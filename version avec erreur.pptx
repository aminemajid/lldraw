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fr-FR"/>
    </a:def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 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120"/>
            </a:gs>
            <a:gs pos="100000">
              <a:srgbClr val="121F3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90F1E"/>
            </a:gs>
            <a:gs pos="100000">
              <a:srgbClr val="14224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A"/>
          <p:cNvSpPr/>
          <p:nvPr/>
        </p:nvSpPr>
        <p:spPr>
          <a:xfrm>
            <a:off x="8572500" y="-1428750"/>
            <a:ext cx="4953000" cy="4953000"/>
          </a:xfrm>
          <a:prstGeom prst="ellipse">
            <a:avLst/>
          </a:prstGeom>
          <a:solidFill>
            <a:srgbClr val="3B82F6">
              <a:alpha val="7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3" name="Décor B"/>
          <p:cNvSpPr/>
          <p:nvPr/>
        </p:nvSpPr>
        <p:spPr>
          <a:xfrm>
            <a:off x="9906000" y="400050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4" name="Décor C"/>
          <p:cNvSpPr/>
          <p:nvPr/>
        </p:nvSpPr>
        <p:spPr>
          <a:xfrm>
            <a:off x="-1333500" y="5334000"/>
            <a:ext cx="3619500" cy="3619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5" name="Barre latérale"/>
          <p:cNvSpPr/>
          <p:nvPr/>
        </p:nvSpPr>
        <p:spPr>
          <a:xfrm>
            <a:off x="609600" y="2038350"/>
            <a:ext cx="57150" cy="1123950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/>
        </p:txBody>
      </p:sp>
      <p:sp>
        <p:nvSpPr>
          <p:cNvPr id="6" name="Kicker"/>
          <p:cNvSpPr/>
          <p:nvPr/>
        </p:nvSpPr>
        <p:spPr>
          <a:xfrm>
            <a:off x="876300" y="2038350"/>
            <a:ext cx="74295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100" b="1" spc="260" dirty="0">
                <a:solidFill>
                  <a:srgbClr val="22D3EE"/>
                </a:solidFill>
                <a:latin typeface="Segoe UI"/>
                <a:cs typeface="Segoe UI"/>
              </a:rPr>
              <a:t>DOSSIER DE CONCEPTION — HIGH LEVEL DESIGN</a:t>
            </a:r>
          </a:p>
        </p:txBody>
      </p:sp>
      <p:sp>
        <p:nvSpPr>
          <p:cNvPr id="7" name="Titre"/>
          <p:cNvSpPr/>
          <p:nvPr/>
        </p:nvSpPr>
        <p:spPr>
          <a:xfrm>
            <a:off x="876300" y="2381250"/>
            <a:ext cx="7429500" cy="12382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4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Datacenter Démo</a:t>
            </a:r>
          </a:p>
          <a:p>
            <a:pPr>
              <a:spcBef>
                <a:spcPts val="800"/>
              </a:spcBef>
              <a:buNone/>
            </a:pPr>
            <a:r>
              <a:rPr lang="fr-FR" sz="1600" dirty="0">
                <a:solidFill>
                  <a:srgbClr val="A3B2CC"/>
                </a:solidFill>
                <a:latin typeface="Segoe UI"/>
                <a:cs typeface="Segoe UI"/>
              </a:rPr>
              <a:t>Architecture cible &amp; synthèse opérationnelle</a:t>
            </a:r>
          </a:p>
        </p:txBody>
      </p:sp>
      <p:sp>
        <p:nvSpPr>
          <p:cNvPr id="8" name="Filet"/>
          <p:cNvSpPr/>
          <p:nvPr/>
        </p:nvSpPr>
        <p:spPr>
          <a:xfrm>
            <a:off x="876300" y="3790950"/>
            <a:ext cx="2286000" cy="38100"/>
          </a:xfrm>
          <a:prstGeom prst="rect">
            <a:avLst/>
          </a:prstGeom>
          <a:solidFill>
            <a:srgbClr val="22D3EE"/>
          </a:solidFill>
        </p:spPr>
        <p:txBody>
          <a:bodyPr wrap="square" lIns="0" tIns="0" rIns="0" bIns="0" anchor="t"/>
          <a:lstStyle/>
          <a:p/>
        </p:txBody>
      </p:sp>
      <p:sp>
        <p:nvSpPr>
          <p:cNvPr id="9" name="Métadonnées"/>
          <p:cNvSpPr/>
          <p:nvPr/>
        </p:nvSpPr>
        <p:spPr>
          <a:xfrm>
            <a:off x="876300" y="4038600"/>
            <a:ext cx="66675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100" dirty="0">
                <a:solidFill>
                  <a:srgbClr val="6E80A0"/>
                </a:solidFill>
                <a:latin typeface="Segoe UI"/>
                <a:cs typeface="Segoe UI"/>
              </a:rPr>
              <a:t>Client  </a:t>
            </a: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Démo Industries SA — Siège Casablanca</a:t>
            </a:r>
          </a:p>
          <a:p>
            <a:pPr>
              <a:spcBef>
                <a:spcPts val="400"/>
              </a:spcBef>
              <a:buNone/>
            </a:pPr>
            <a:r>
              <a:rPr lang="fr-FR" sz="1100" dirty="0">
                <a:solidFill>
                  <a:srgbClr val="6E80A0"/>
                </a:solidFill>
                <a:latin typeface="Segoe UI"/>
                <a:cs typeface="Segoe UI"/>
              </a:rPr>
              <a:t>Auteur  </a:t>
            </a:r>
            <a:r>
              <a:rPr lang="fr-FR" sz="1300" dirty="0">
                <a:solidFill>
                  <a:srgbClr val="A3B2CC"/>
                </a:solidFill>
                <a:latin typeface="Segoe UI"/>
                <a:cs typeface="Segoe UI"/>
              </a:rPr>
              <a:t>Amine MJID — Ingénieur systèmes &amp; réseaux</a:t>
            </a:r>
          </a:p>
          <a:p>
            <a:pPr>
              <a:spcBef>
                <a:spcPts val="400"/>
              </a:spcBef>
              <a:buNone/>
            </a:pPr>
            <a:r>
              <a:rPr lang="fr-FR" sz="1100" dirty="0">
                <a:solidFill>
                  <a:srgbClr val="6E80A0"/>
                </a:solidFill>
                <a:latin typeface="Segoe UI"/>
                <a:cs typeface="Segoe UI"/>
              </a:rPr>
              <a:t>Version  </a:t>
            </a:r>
            <a:r>
              <a:rPr lang="fr-FR" sz="1300" dirty="0">
                <a:solidFill>
                  <a:srgbClr val="A3B2CC"/>
                </a:solidFill>
                <a:latin typeface="Segoe UI"/>
                <a:cs typeface="Segoe UI"/>
              </a:rPr>
              <a:t>1.2   ·   08/09/2026</a:t>
            </a:r>
          </a:p>
        </p:txBody>
      </p:sp>
      <p:sp>
        <p:nvSpPr>
          <p:cNvPr id="10" name="Puce 1"/>
          <p:cNvSpPr/>
          <p:nvPr/>
        </p:nvSpPr>
        <p:spPr>
          <a:xfrm>
            <a:off x="876300" y="5391150"/>
            <a:ext cx="1562100" cy="609600"/>
          </a:xfrm>
          <a:prstGeom prst="roundRect">
            <a:avLst>
              <a:gd name="adj" fmla="val 16000"/>
            </a:avLst>
          </a:prstGeom>
          <a:solidFill>
            <a:srgbClr val="13203C">
              <a:alpha val="88000"/>
            </a:srgbClr>
          </a:solidFill>
          <a:ln w="9525" cap="rnd">
            <a:solidFill>
              <a:srgbClr val="273851"/>
            </a:solidFill>
          </a:ln>
        </p:spPr>
        <p:txBody>
          <a:bodyPr wrap="square" lIns="57150" tIns="57150" rIns="57150" bIns="57150" anchor="ctr"/>
          <a:lstStyle/>
          <a:p>
            <a:pPr algn="ctr">
              <a:lnSpc>
                <a:spcPct val="104000"/>
              </a:lnSpc>
              <a:buNone/>
            </a:pPr>
            <a:r>
              <a:rPr lang="fr-FR" sz="1600" b="1" dirty="0">
                <a:solidFill>
                  <a:srgbClr val="F5F8FE"/>
                </a:solidFill>
                <a:latin typeface="Segoe UI"/>
                <a:cs typeface="Segoe UI"/>
              </a:rPr>
              <a:t>🏢 2 </a:t>
            </a:r>
            <a:r>
              <a:rPr lang="fr-FR" sz="1050" dirty="0">
                <a:solidFill>
                  <a:srgbClr val="A3B2CC"/>
                </a:solidFill>
                <a:latin typeface="Segoe UI"/>
                <a:cs typeface="Segoe UI"/>
              </a:rPr>
              <a:t>sites</a:t>
            </a:r>
          </a:p>
        </p:txBody>
      </p:sp>
      <p:sp>
        <p:nvSpPr>
          <p:cNvPr id="11" name="Puce 2"/>
          <p:cNvSpPr/>
          <p:nvPr/>
        </p:nvSpPr>
        <p:spPr>
          <a:xfrm>
            <a:off x="2571750" y="5391150"/>
            <a:ext cx="1562100" cy="609600"/>
          </a:xfrm>
          <a:prstGeom prst="roundRect">
            <a:avLst>
              <a:gd name="adj" fmla="val 16000"/>
            </a:avLst>
          </a:prstGeom>
          <a:solidFill>
            <a:srgbClr val="13203C">
              <a:alpha val="88000"/>
            </a:srgbClr>
          </a:solidFill>
          <a:ln w="9525" cap="rnd">
            <a:solidFill>
              <a:srgbClr val="273851"/>
            </a:solidFill>
          </a:ln>
        </p:spPr>
        <p:txBody>
          <a:bodyPr wrap="square" lIns="57150" tIns="57150" rIns="57150" bIns="57150" anchor="ctr"/>
          <a:lstStyle/>
          <a:p>
            <a:pPr algn="ctr">
              <a:lnSpc>
                <a:spcPct val="104000"/>
              </a:lnSpc>
              <a:buNone/>
            </a:pPr>
            <a:r>
              <a:rPr lang="fr-FR" sz="1600" b="1" dirty="0">
                <a:solidFill>
                  <a:srgbClr val="F5F8FE"/>
                </a:solidFill>
                <a:latin typeface="Segoe UI"/>
                <a:cs typeface="Segoe UI"/>
              </a:rPr>
              <a:t>🗄️ 3 </a:t>
            </a:r>
            <a:r>
              <a:rPr lang="fr-FR" sz="1050" dirty="0">
                <a:solidFill>
                  <a:srgbClr val="A3B2CC"/>
                </a:solidFill>
                <a:latin typeface="Segoe UI"/>
                <a:cs typeface="Segoe UI"/>
              </a:rPr>
              <a:t>baies</a:t>
            </a:r>
          </a:p>
        </p:txBody>
      </p:sp>
      <p:sp>
        <p:nvSpPr>
          <p:cNvPr id="12" name="Puce 3"/>
          <p:cNvSpPr/>
          <p:nvPr/>
        </p:nvSpPr>
        <p:spPr>
          <a:xfrm>
            <a:off x="4267200" y="5391150"/>
            <a:ext cx="1562100" cy="609600"/>
          </a:xfrm>
          <a:prstGeom prst="roundRect">
            <a:avLst>
              <a:gd name="adj" fmla="val 16000"/>
            </a:avLst>
          </a:prstGeom>
          <a:solidFill>
            <a:srgbClr val="13203C">
              <a:alpha val="88000"/>
            </a:srgbClr>
          </a:solidFill>
          <a:ln w="9525" cap="rnd">
            <a:solidFill>
              <a:srgbClr val="273851"/>
            </a:solidFill>
          </a:ln>
        </p:spPr>
        <p:txBody>
          <a:bodyPr wrap="square" lIns="57150" tIns="57150" rIns="57150" bIns="57150" anchor="ctr"/>
          <a:lstStyle/>
          <a:p>
            <a:pPr algn="ctr">
              <a:lnSpc>
                <a:spcPct val="104000"/>
              </a:lnSpc>
              <a:buNone/>
            </a:pPr>
            <a:r>
              <a:rPr lang="fr-FR" sz="1600" b="1" dirty="0">
                <a:solidFill>
                  <a:srgbClr val="F5F8FE"/>
                </a:solidFill>
                <a:latin typeface="Segoe UI"/>
                <a:cs typeface="Segoe UI"/>
              </a:rPr>
              <a:t>📦 41 </a:t>
            </a:r>
            <a:r>
              <a:rPr lang="fr-FR" sz="1050" dirty="0">
                <a:solidFill>
                  <a:srgbClr val="A3B2CC"/>
                </a:solidFill>
                <a:latin typeface="Segoe UI"/>
                <a:cs typeface="Segoe UI"/>
              </a:rPr>
              <a:t>équipements</a:t>
            </a:r>
          </a:p>
        </p:txBody>
      </p:sp>
      <p:sp>
        <p:nvSpPr>
          <p:cNvPr id="13" name="Puce 4"/>
          <p:cNvSpPr/>
          <p:nvPr/>
        </p:nvSpPr>
        <p:spPr>
          <a:xfrm>
            <a:off x="5962650" y="5391150"/>
            <a:ext cx="1562100" cy="609600"/>
          </a:xfrm>
          <a:prstGeom prst="roundRect">
            <a:avLst>
              <a:gd name="adj" fmla="val 16000"/>
            </a:avLst>
          </a:prstGeom>
          <a:solidFill>
            <a:srgbClr val="13203C">
              <a:alpha val="88000"/>
            </a:srgbClr>
          </a:solidFill>
          <a:ln w="9525" cap="rnd">
            <a:solidFill>
              <a:srgbClr val="273851"/>
            </a:solidFill>
          </a:ln>
        </p:spPr>
        <p:txBody>
          <a:bodyPr wrap="square" lIns="57150" tIns="57150" rIns="57150" bIns="57150" anchor="ctr"/>
          <a:lstStyle/>
          <a:p>
            <a:pPr algn="ctr">
              <a:lnSpc>
                <a:spcPct val="104000"/>
              </a:lnSpc>
              <a:buNone/>
            </a:pPr>
            <a:r>
              <a:rPr lang="fr-FR" sz="1600" b="1" dirty="0">
                <a:solidFill>
                  <a:srgbClr val="F5F8FE"/>
                </a:solidFill>
                <a:latin typeface="Segoe UI"/>
                <a:cs typeface="Segoe UI"/>
              </a:rPr>
              <a:t>🔌 43 </a:t>
            </a:r>
            <a:r>
              <a:rPr lang="fr-FR" sz="1050" dirty="0">
                <a:solidFill>
                  <a:srgbClr val="A3B2CC"/>
                </a:solidFill>
                <a:latin typeface="Segoe UI"/>
                <a:cs typeface="Segoe UI"/>
              </a:rPr>
              <a:t>cordons</a:t>
            </a:r>
          </a:p>
        </p:txBody>
      </p:sp>
      <p:sp>
        <p:nvSpPr>
          <p:cNvPr id="14" name="Note"/>
          <p:cNvSpPr/>
          <p:nvPr/>
        </p:nvSpPr>
        <p:spPr>
          <a:xfrm>
            <a:off x="876300" y="6324600"/>
            <a:ext cx="6667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900" dirty="0">
                <a:solidFill>
                  <a:srgbClr val="6E80A0"/>
                </a:solidFill>
                <a:latin typeface="Segoe UI"/>
                <a:cs typeface="Segoe UI"/>
              </a:rPr>
              <a:t>Généré depuis LLDraw — planification data center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120"/>
                            </p:stCondLst>
                            <p:childTnLst>
                              <p:par>
                                <p:cTn id="5" presetID="22" presetClass="entr" presetSubtype="4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20"/>
                            </p:stCondLst>
                            <p:childTnLst>
                              <p:par>
                                <p:cTn id="9" presetID="10" presetClass="entr" presetSubtype="0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 dur="7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50"/>
                            </p:stCondLst>
                            <p:childTnLst>
                              <p:par>
                                <p:cTn id="22" presetID="2" presetClass="entr" presetSubtype="4" fill="hold" grpId="0" nodeType="withEffect" dur="6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50"/>
                            </p:stCondLst>
                            <p:childTnLst>
                              <p:par>
                                <p:cTn id="27" presetID="2" presetClass="entr" presetSubtype="4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90"/>
                            </p:stCondLst>
                            <p:childTnLst>
                              <p:par>
                                <p:cTn id="32" presetID="2" presetClass="entr" presetSubtype="4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330"/>
                            </p:stCondLst>
                            <p:childTnLst>
                              <p:par>
                                <p:cTn id="37" presetID="2" presetClass="entr" presetSubtype="4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70"/>
                            </p:stCondLst>
                            <p:childTnLst>
                              <p:par>
                                <p:cTn id="42" presetID="2" presetClass="entr" presetSubtype="4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SOMMAIRE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Au programme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/>
        </p:txBody>
      </p:sp>
      <p:sp>
        <p:nvSpPr>
          <p:cNvPr id="7" name="Num 1"/>
          <p:cNvSpPr/>
          <p:nvPr/>
        </p:nvSpPr>
        <p:spPr>
          <a:xfrm>
            <a:off x="609600" y="156210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8" name="Item 1"/>
          <p:cNvSpPr/>
          <p:nvPr/>
        </p:nvSpPr>
        <p:spPr>
          <a:xfrm>
            <a:off x="1219200" y="156210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Chiffres clés</a:t>
            </a:r>
          </a:p>
        </p:txBody>
      </p:sp>
      <p:sp>
        <p:nvSpPr>
          <p:cNvPr id="9" name="Num 2"/>
          <p:cNvSpPr/>
          <p:nvPr/>
        </p:nvSpPr>
        <p:spPr>
          <a:xfrm>
            <a:off x="609600" y="226695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10" name="Item 2"/>
          <p:cNvSpPr/>
          <p:nvPr/>
        </p:nvSpPr>
        <p:spPr>
          <a:xfrm>
            <a:off x="1219200" y="226695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Sites &amp; implantation</a:t>
            </a:r>
          </a:p>
        </p:txBody>
      </p:sp>
      <p:sp>
        <p:nvSpPr>
          <p:cNvPr id="11" name="Num 3"/>
          <p:cNvSpPr/>
          <p:nvPr/>
        </p:nvSpPr>
        <p:spPr>
          <a:xfrm>
            <a:off x="609600" y="297180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12" name="Item 3"/>
          <p:cNvSpPr/>
          <p:nvPr/>
        </p:nvSpPr>
        <p:spPr>
          <a:xfrm>
            <a:off x="1219200" y="297180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Architecture cible</a:t>
            </a:r>
          </a:p>
        </p:txBody>
      </p:sp>
      <p:sp>
        <p:nvSpPr>
          <p:cNvPr id="13" name="Num 4"/>
          <p:cNvSpPr/>
          <p:nvPr/>
        </p:nvSpPr>
        <p:spPr>
          <a:xfrm>
            <a:off x="609600" y="367665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04</a:t>
            </a:r>
          </a:p>
        </p:txBody>
      </p:sp>
      <p:sp>
        <p:nvSpPr>
          <p:cNvPr id="14" name="Item 4"/>
          <p:cNvSpPr/>
          <p:nvPr/>
        </p:nvSpPr>
        <p:spPr>
          <a:xfrm>
            <a:off x="1219200" y="367665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Topologie réseau</a:t>
            </a:r>
          </a:p>
        </p:txBody>
      </p:sp>
      <p:sp>
        <p:nvSpPr>
          <p:cNvPr id="15" name="Num 5"/>
          <p:cNvSpPr/>
          <p:nvPr/>
        </p:nvSpPr>
        <p:spPr>
          <a:xfrm>
            <a:off x="609600" y="438150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05</a:t>
            </a:r>
          </a:p>
        </p:txBody>
      </p:sp>
      <p:sp>
        <p:nvSpPr>
          <p:cNvPr id="16" name="Item 5"/>
          <p:cNvSpPr/>
          <p:nvPr/>
        </p:nvSpPr>
        <p:spPr>
          <a:xfrm>
            <a:off x="1219200" y="438150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Plan d’ensemble</a:t>
            </a:r>
          </a:p>
        </p:txBody>
      </p:sp>
      <p:sp>
        <p:nvSpPr>
          <p:cNvPr id="17" name="Num 6"/>
          <p:cNvSpPr/>
          <p:nvPr/>
        </p:nvSpPr>
        <p:spPr>
          <a:xfrm>
            <a:off x="609600" y="508635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06</a:t>
            </a:r>
          </a:p>
        </p:txBody>
      </p:sp>
      <p:sp>
        <p:nvSpPr>
          <p:cNvPr id="18" name="Item 6"/>
          <p:cNvSpPr/>
          <p:nvPr/>
        </p:nvSpPr>
        <p:spPr>
          <a:xfrm>
            <a:off x="1219200" y="508635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Nomenclature &amp; adressage</a:t>
            </a:r>
          </a:p>
        </p:txBody>
      </p:sp>
      <p:sp>
        <p:nvSpPr>
          <p:cNvPr id="19" name="Num 7"/>
          <p:cNvSpPr/>
          <p:nvPr/>
        </p:nvSpPr>
        <p:spPr>
          <a:xfrm>
            <a:off x="6286500" y="156210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07</a:t>
            </a:r>
          </a:p>
        </p:txBody>
      </p:sp>
      <p:sp>
        <p:nvSpPr>
          <p:cNvPr id="20" name="Item 7"/>
          <p:cNvSpPr/>
          <p:nvPr/>
        </p:nvSpPr>
        <p:spPr>
          <a:xfrm>
            <a:off x="6896100" y="156210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Flux &amp; services critiques</a:t>
            </a:r>
          </a:p>
        </p:txBody>
      </p:sp>
      <p:sp>
        <p:nvSpPr>
          <p:cNvPr id="21" name="Num 8"/>
          <p:cNvSpPr/>
          <p:nvPr/>
        </p:nvSpPr>
        <p:spPr>
          <a:xfrm>
            <a:off x="6286500" y="226695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08</a:t>
            </a:r>
          </a:p>
        </p:txBody>
      </p:sp>
      <p:sp>
        <p:nvSpPr>
          <p:cNvPr id="22" name="Item 8"/>
          <p:cNvSpPr/>
          <p:nvPr/>
        </p:nvSpPr>
        <p:spPr>
          <a:xfrm>
            <a:off x="6896100" y="226695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Capacité &amp; puissance</a:t>
            </a:r>
          </a:p>
        </p:txBody>
      </p:sp>
      <p:sp>
        <p:nvSpPr>
          <p:cNvPr id="23" name="Num 9"/>
          <p:cNvSpPr/>
          <p:nvPr/>
        </p:nvSpPr>
        <p:spPr>
          <a:xfrm>
            <a:off x="6286500" y="297180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09</a:t>
            </a:r>
          </a:p>
        </p:txBody>
      </p:sp>
      <p:sp>
        <p:nvSpPr>
          <p:cNvPr id="24" name="Item 9"/>
          <p:cNvSpPr/>
          <p:nvPr/>
        </p:nvSpPr>
        <p:spPr>
          <a:xfrm>
            <a:off x="6896100" y="297180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Garanties &amp; maintenance</a:t>
            </a:r>
          </a:p>
        </p:txBody>
      </p:sp>
      <p:sp>
        <p:nvSpPr>
          <p:cNvPr id="25" name="Num 10"/>
          <p:cNvSpPr/>
          <p:nvPr/>
        </p:nvSpPr>
        <p:spPr>
          <a:xfrm>
            <a:off x="6286500" y="367665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10</a:t>
            </a:r>
          </a:p>
        </p:txBody>
      </p:sp>
      <p:sp>
        <p:nvSpPr>
          <p:cNvPr id="26" name="Item 10"/>
          <p:cNvSpPr/>
          <p:nvPr/>
        </p:nvSpPr>
        <p:spPr>
          <a:xfrm>
            <a:off x="6896100" y="367665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Sécurité &amp; interconnexion</a:t>
            </a:r>
          </a:p>
        </p:txBody>
      </p:sp>
      <p:sp>
        <p:nvSpPr>
          <p:cNvPr id="27" name="Num 11"/>
          <p:cNvSpPr/>
          <p:nvPr/>
        </p:nvSpPr>
        <p:spPr>
          <a:xfrm>
            <a:off x="6286500" y="438150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3B82F6">
              <a:alpha val="16000"/>
            </a:srgbClr>
          </a:solidFill>
          <a:ln w="9525" cap="rnd">
            <a:solidFill>
              <a:srgbClr val="3B82F6">
                <a:alpha val="55000"/>
              </a:srgbClr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500" b="1" dirty="0">
                <a:solidFill>
                  <a:srgbClr val="22D3EE"/>
                </a:solidFill>
                <a:latin typeface="Segoe UI"/>
                <a:cs typeface="Segoe UI"/>
              </a:rPr>
              <a:t>11</a:t>
            </a:r>
          </a:p>
        </p:txBody>
      </p:sp>
      <p:sp>
        <p:nvSpPr>
          <p:cNvPr id="28" name="Item 11"/>
          <p:cNvSpPr/>
          <p:nvPr/>
        </p:nvSpPr>
        <p:spPr>
          <a:xfrm>
            <a:off x="6896100" y="4381500"/>
            <a:ext cx="4476750" cy="438150"/>
          </a:xfrm>
          <a:prstGeom prst="rect">
            <a:avLst/>
          </a:prstGeom>
          <a:noFill/>
        </p:spPr>
        <p:txBody>
          <a:bodyPr wrap="square" lIns="0" tIns="0" rIns="76200" bIns="0" anchor="ctr"/>
          <a:lstStyle/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Prochaines étapes</a:t>
            </a:r>
          </a:p>
        </p:txBody>
      </p:sp>
      <p:sp>
        <p:nvSpPr>
          <p:cNvPr id="29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30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2 / 14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30"/>
                            </p:stCondLst>
                            <p:childTnLst>
                              <p:par>
                                <p:cTn id="28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30"/>
                            </p:stCondLst>
                            <p:childTnLst>
                              <p:par>
                                <p:cTn id="32" presetID="2" presetClass="entr" presetSubtype="4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60"/>
                            </p:stCondLst>
                            <p:childTnLst>
                              <p:par>
                                <p:cTn id="37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60"/>
                            </p:stCondLst>
                            <p:childTnLst>
                              <p:par>
                                <p:cTn id="41" presetID="2" presetClass="entr" presetSubtype="4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90"/>
                            </p:stCondLst>
                            <p:childTnLst>
                              <p:par>
                                <p:cTn id="46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90"/>
                            </p:stCondLst>
                            <p:childTnLst>
                              <p:par>
                                <p:cTn id="50" presetID="2" presetClass="entr" presetSubtype="4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20"/>
                            </p:stCondLst>
                            <p:childTnLst>
                              <p:par>
                                <p:cTn id="55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20"/>
                            </p:stCondLst>
                            <p:childTnLst>
                              <p:par>
                                <p:cTn id="59" presetID="2" presetClass="entr" presetSubtype="4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50"/>
                            </p:stCondLst>
                            <p:childTnLst>
                              <p:par>
                                <p:cTn id="64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50"/>
                            </p:stCondLst>
                            <p:childTnLst>
                              <p:par>
                                <p:cTn id="68" presetID="2" presetClass="entr" presetSubtype="4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80"/>
                            </p:stCondLst>
                            <p:childTnLst>
                              <p:par>
                                <p:cTn id="73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80"/>
                            </p:stCondLst>
                            <p:childTnLst>
                              <p:par>
                                <p:cTn id="77" presetID="2" presetClass="entr" presetSubtype="4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910"/>
                            </p:stCondLst>
                            <p:childTnLst>
                              <p:par>
                                <p:cTn id="82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910"/>
                            </p:stCondLst>
                            <p:childTnLst>
                              <p:par>
                                <p:cTn id="86" presetID="2" presetClass="entr" presetSubtype="4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40"/>
                            </p:stCondLst>
                            <p:childTnLst>
                              <p:par>
                                <p:cTn id="91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40"/>
                            </p:stCondLst>
                            <p:childTnLst>
                              <p:par>
                                <p:cTn id="95" presetID="2" presetClass="entr" presetSubtype="4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170"/>
                            </p:stCondLst>
                            <p:childTnLst>
                              <p:par>
                                <p:cTn id="100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170"/>
                            </p:stCondLst>
                            <p:childTnLst>
                              <p:par>
                                <p:cTn id="104" presetID="2" presetClass="entr" presetSubtype="4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300"/>
                            </p:stCondLst>
                            <p:childTnLst>
                              <p:par>
                                <p:cTn id="109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13" presetID="2" presetClass="entr" presetSubtype="4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SYNTHÈSE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Chiffres clés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/>
        </p:txBody>
      </p:sp>
      <p:sp>
        <p:nvSpPr>
          <p:cNvPr id="7" name="KPI 1"/>
          <p:cNvSpPr/>
          <p:nvPr/>
        </p:nvSpPr>
        <p:spPr>
          <a:xfrm>
            <a:off x="609600" y="15430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🏢</a:t>
            </a:r>
          </a:p>
          <a:p>
            <a:pPr>
              <a:lnSpc>
                <a:spcPct val="96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2</a:t>
            </a:r>
          </a:p>
          <a:p>
            <a:pPr>
              <a:spcBef>
                <a:spcPts val="600"/>
              </a:spcBef>
              <a:buNone/>
            </a:pPr>
            <a:r>
              <a:rPr lang="fr-FR" sz="1050" b="1" spc="180" dirty="0">
                <a:solidFill>
                  <a:srgbClr val="22D3EE"/>
                </a:solidFill>
                <a:latin typeface="Segoe UI"/>
                <a:cs typeface="Segoe UI"/>
              </a:rPr>
              <a:t>SITES</a:t>
            </a:r>
          </a:p>
        </p:txBody>
      </p:sp>
      <p:sp>
        <p:nvSpPr>
          <p:cNvPr id="8" name="KPI 2"/>
          <p:cNvSpPr/>
          <p:nvPr/>
        </p:nvSpPr>
        <p:spPr>
          <a:xfrm>
            <a:off x="4343400" y="15430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🗄️</a:t>
            </a:r>
          </a:p>
          <a:p>
            <a:pPr>
              <a:lnSpc>
                <a:spcPct val="96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3</a:t>
            </a:r>
          </a:p>
          <a:p>
            <a:pPr>
              <a:spcBef>
                <a:spcPts val="600"/>
              </a:spcBef>
              <a:buNone/>
            </a:pPr>
            <a:r>
              <a:rPr lang="fr-FR" sz="1050" b="1" spc="180" dirty="0">
                <a:solidFill>
                  <a:srgbClr val="3B82F6"/>
                </a:solidFill>
                <a:latin typeface="Segoe UI"/>
                <a:cs typeface="Segoe UI"/>
              </a:rPr>
              <a:t>BAIES</a:t>
            </a:r>
          </a:p>
        </p:txBody>
      </p:sp>
      <p:sp>
        <p:nvSpPr>
          <p:cNvPr id="9" name="KPI 3"/>
          <p:cNvSpPr/>
          <p:nvPr/>
        </p:nvSpPr>
        <p:spPr>
          <a:xfrm>
            <a:off x="8077200" y="15430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📦</a:t>
            </a:r>
          </a:p>
          <a:p>
            <a:pPr>
              <a:lnSpc>
                <a:spcPct val="96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41</a:t>
            </a:r>
          </a:p>
          <a:p>
            <a:pPr>
              <a:spcBef>
                <a:spcPts val="600"/>
              </a:spcBef>
              <a:buNone/>
            </a:pPr>
            <a:r>
              <a:rPr lang="fr-FR" sz="1050" b="1" spc="180" dirty="0">
                <a:solidFill>
                  <a:srgbClr val="818CF8"/>
                </a:solidFill>
                <a:latin typeface="Segoe UI"/>
                <a:cs typeface="Segoe UI"/>
              </a:rPr>
              <a:t>ÉQUIPEMENTS</a:t>
            </a:r>
          </a:p>
        </p:txBody>
      </p:sp>
      <p:sp>
        <p:nvSpPr>
          <p:cNvPr id="10" name="KPI 4"/>
          <p:cNvSpPr/>
          <p:nvPr/>
        </p:nvSpPr>
        <p:spPr>
          <a:xfrm>
            <a:off x="609600" y="38671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🔌</a:t>
            </a:r>
          </a:p>
          <a:p>
            <a:pPr>
              <a:lnSpc>
                <a:spcPct val="96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43</a:t>
            </a:r>
          </a:p>
          <a:p>
            <a:pPr>
              <a:spcBef>
                <a:spcPts val="600"/>
              </a:spcBef>
              <a:buNone/>
            </a:pPr>
            <a:r>
              <a:rPr lang="fr-FR" sz="1050" b="1" spc="180" dirty="0">
                <a:solidFill>
                  <a:srgbClr val="FBBF24"/>
                </a:solidFill>
                <a:latin typeface="Segoe UI"/>
                <a:cs typeface="Segoe UI"/>
              </a:rPr>
              <a:t>CORDONS</a:t>
            </a:r>
          </a:p>
        </p:txBody>
      </p:sp>
      <p:sp>
        <p:nvSpPr>
          <p:cNvPr id="11" name="KPI 5"/>
          <p:cNvSpPr/>
          <p:nvPr/>
        </p:nvSpPr>
        <p:spPr>
          <a:xfrm>
            <a:off x="4343400" y="38671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🗂️</a:t>
            </a:r>
          </a:p>
          <a:p>
            <a:pPr>
              <a:lnSpc>
                <a:spcPct val="96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229</a:t>
            </a:r>
          </a:p>
          <a:p>
            <a:pPr>
              <a:spcBef>
                <a:spcPts val="600"/>
              </a:spcBef>
              <a:buNone/>
            </a:pPr>
            <a:r>
              <a:rPr lang="fr-FR" sz="1050" b="1" spc="180" dirty="0">
                <a:solidFill>
                  <a:srgbClr val="34D399"/>
                </a:solidFill>
                <a:latin typeface="Segoe UI"/>
                <a:cs typeface="Segoe UI"/>
              </a:rPr>
              <a:t>PORTS ÉTIQUETÉS</a:t>
            </a:r>
          </a:p>
        </p:txBody>
      </p:sp>
      <p:sp>
        <p:nvSpPr>
          <p:cNvPr id="12" name="KPI 6"/>
          <p:cNvSpPr/>
          <p:nvPr/>
        </p:nvSpPr>
        <p:spPr>
          <a:xfrm>
            <a:off x="8077200" y="38671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🛡️</a:t>
            </a:r>
          </a:p>
          <a:p>
            <a:pPr>
              <a:lnSpc>
                <a:spcPct val="96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34</a:t>
            </a:r>
          </a:p>
          <a:p>
            <a:pPr>
              <a:spcBef>
                <a:spcPts val="600"/>
              </a:spcBef>
              <a:buNone/>
            </a:pPr>
            <a:r>
              <a:rPr lang="fr-FR" sz="1050" b="1" spc="180" dirty="0">
                <a:solidFill>
                  <a:srgbClr val="34D399"/>
                </a:solidFill>
                <a:latin typeface="Segoe UI"/>
                <a:cs typeface="Segoe UI"/>
              </a:rPr>
              <a:t>EN GARANTIE</a:t>
            </a:r>
          </a:p>
        </p:txBody>
      </p:sp>
      <p:sp>
        <p:nvSpPr>
          <p:cNvPr id="13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14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3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grpId="0" nodeType="clickEffect" dur="6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"/>
                            </p:stCondLst>
                            <p:childTnLst>
                              <p:par>
                                <p:cTn id="25" presetID="23" presetClass="entr" presetSubtype="16" fill="hold" grpId="0" nodeType="withEffect" dur="6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"/>
                            </p:stCondLst>
                            <p:childTnLst>
                              <p:par>
                                <p:cTn id="31" presetID="23" presetClass="entr" presetSubtype="16" fill="hold" grpId="0" nodeType="withEffect" dur="6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"/>
                            </p:stCondLst>
                            <p:childTnLst>
                              <p:par>
                                <p:cTn id="37" presetID="23" presetClass="entr" presetSubtype="16" fill="hold" grpId="0" nodeType="withEffect" dur="6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00"/>
                            </p:stCondLst>
                            <p:childTnLst>
                              <p:par>
                                <p:cTn id="43" presetID="23" presetClass="entr" presetSubtype="16" fill="hold" grpId="0" nodeType="withEffect" dur="6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49" presetID="23" presetClass="entr" presetSubtype="16" fill="hold" grpId="0" nodeType="withEffect" dur="6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PÉRIMÈTRE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Sites &amp; implantation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/>
        </p:txBody>
      </p:sp>
      <p:sp>
        <p:nvSpPr>
          <p:cNvPr id="7" name="Site 1"/>
          <p:cNvSpPr/>
          <p:nvPr/>
        </p:nvSpPr>
        <p:spPr>
          <a:xfrm>
            <a:off x="609600" y="1504950"/>
            <a:ext cx="5448300" cy="4514850"/>
          </a:xfrm>
          <a:prstGeom prst="roundRect">
            <a:avLst>
              <a:gd name="adj" fmla="val 6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0" tIns="0" rIns="0" bIns="0" anchor="t"/>
          <a:lstStyle/>
          <a:p/>
        </p:txBody>
      </p:sp>
      <p:sp>
        <p:nvSpPr>
          <p:cNvPr id="8" name="Type 1"/>
          <p:cNvSpPr/>
          <p:nvPr/>
        </p:nvSpPr>
        <p:spPr>
          <a:xfrm>
            <a:off x="4419600" y="1676400"/>
            <a:ext cx="1447800" cy="285750"/>
          </a:xfrm>
          <a:prstGeom prst="roundRect">
            <a:avLst>
              <a:gd name="adj" fmla="val 50000"/>
            </a:avLst>
          </a:prstGeom>
          <a:solidFill>
            <a:srgbClr val="60A5FA">
              <a:alpha val="16000"/>
            </a:srgbClr>
          </a:solidFill>
          <a:ln w="9525" cap="rnd">
            <a:solidFill>
              <a:srgbClr val="60A5FA">
                <a:alpha val="50000"/>
              </a:srgbClr>
            </a:solidFill>
          </a:ln>
        </p:spPr>
        <p:txBody>
          <a:bodyPr wrap="square" lIns="47625" tIns="28575" rIns="47625" bIns="28575" anchor="ctr"/>
          <a:lstStyle/>
          <a:p>
            <a:pPr algn="ctr">
              <a:buNone/>
            </a:pPr>
            <a:r>
              <a:rPr lang="fr-FR" sz="950" b="1" spc="60" dirty="0">
                <a:solidFill>
                  <a:srgbClr val="60A5FA"/>
                </a:solidFill>
                <a:latin typeface="Segoe UI"/>
                <a:cs typeface="Segoe UI"/>
              </a:rPr>
              <a:t>Siège / Datacenter</a:t>
            </a:r>
          </a:p>
        </p:txBody>
      </p:sp>
      <p:sp>
        <p:nvSpPr>
          <p:cNvPr id="9" name="Contenu site 1"/>
          <p:cNvSpPr/>
          <p:nvPr/>
        </p:nvSpPr>
        <p:spPr>
          <a:xfrm>
            <a:off x="857250" y="1714500"/>
            <a:ext cx="3409950" cy="1428750"/>
          </a:xfrm>
          <a:prstGeom prst="rect">
            <a:avLst/>
          </a:prstGeom>
          <a:noFill/>
        </p:spPr>
        <p:txBody>
          <a:bodyPr wrap="square" lIns="0" tIns="0" rIns="57150" bIns="0" anchor="t"/>
          <a:lstStyle/>
          <a:p>
            <a:pPr>
              <a:lnSpc>
                <a:spcPct val="104000"/>
              </a:lnSpc>
              <a:buNone/>
            </a:pPr>
            <a:r>
              <a:rPr lang="fr-FR" sz="1300" dirty="0">
                <a:solidFill>
                  <a:srgbClr val="60A5FA"/>
                </a:solidFill>
                <a:latin typeface="Segoe UI"/>
                <a:cs typeface="Segoe UI"/>
              </a:rPr>
              <a:t>● </a:t>
            </a:r>
            <a:r>
              <a:rPr lang="fr-FR" sz="1550" b="1" dirty="0">
                <a:solidFill>
                  <a:srgbClr val="F5F8FE"/>
                </a:solidFill>
                <a:latin typeface="Segoe UI"/>
                <a:cs typeface="Segoe UI"/>
              </a:rPr>
              <a:t>Datacenter Siège — Casablanca</a:t>
            </a:r>
          </a:p>
          <a:p>
            <a:pPr>
              <a:spcBef>
                <a:spcPts val="800"/>
              </a:spcBef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Zone Industrielle Sidi Maârouf, Casablanca</a:t>
            </a:r>
          </a:p>
          <a:p>
            <a:pPr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Amine MJID — amine.mjid@demo.ma — +212 6 61 00 00 00</a:t>
            </a:r>
          </a:p>
        </p:txBody>
      </p:sp>
      <p:sp>
        <p:nvSpPr>
          <p:cNvPr id="10" name="Description 1"/>
          <p:cNvSpPr/>
          <p:nvPr/>
        </p:nvSpPr>
        <p:spPr>
          <a:xfrm>
            <a:off x="857250" y="3219450"/>
            <a:ext cx="4953000" cy="1123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34000"/>
              </a:lnSpc>
              <a:buNone/>
            </a:pPr>
            <a:r>
              <a:rPr lang="fr-FR" sz="1100" dirty="0">
                <a:solidFill>
                  <a:srgbClr val="6E80A0"/>
                </a:solidFill>
                <a:latin typeface="Segoe UI"/>
                <a:cs typeface="Segoe UI"/>
              </a:rPr>
              <a:t>Baie principale RACK-A (24U) : hyperconvergence Nutanix (3 nœuds), serveur physique Dell R740, NAS Synology, pare-feu WatchGuard, routeur SD-WAN Peplink, switches d'accès Aruba, borne WiFi, capteur AK</a:t>
            </a:r>
          </a:p>
        </p:txBody>
      </p:sp>
      <p:sp>
        <p:nvSpPr>
          <p:cNvPr id="11" name="Baie 1.1"/>
          <p:cNvSpPr/>
          <p:nvPr/>
        </p:nvSpPr>
        <p:spPr>
          <a:xfrm>
            <a:off x="857250" y="4533900"/>
            <a:ext cx="4953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200" b="1" dirty="0">
                <a:solidFill>
                  <a:srgbClr val="F5F8FE"/>
                </a:solidFill>
                <a:latin typeface="Segoe UI"/>
                <a:cs typeface="Segoe UI"/>
              </a:rPr>
              <a:t>RACK FAI — Accès opérateurs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  ·  5/12U occupés</a:t>
            </a:r>
          </a:p>
        </p:txBody>
      </p:sp>
      <p:sp>
        <p:nvSpPr>
          <p:cNvPr id="12" name="Piste 1.1"/>
          <p:cNvSpPr/>
          <p:nvPr/>
        </p:nvSpPr>
        <p:spPr>
          <a:xfrm>
            <a:off x="857250" y="4781550"/>
            <a:ext cx="4019550" cy="9525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7144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/>
        </p:txBody>
      </p:sp>
      <p:sp>
        <p:nvSpPr>
          <p:cNvPr id="13" name="Jauge 1.1"/>
          <p:cNvSpPr/>
          <p:nvPr/>
        </p:nvSpPr>
        <p:spPr>
          <a:xfrm>
            <a:off x="857250" y="4781550"/>
            <a:ext cx="1676400" cy="95250"/>
          </a:xfrm>
          <a:prstGeom prst="roundRect">
            <a:avLst>
              <a:gd name="adj" fmla="val 50000"/>
            </a:avLst>
          </a:prstGeom>
          <a:solidFill>
            <a:srgbClr val="60A5FA"/>
          </a:solidFill>
        </p:spPr>
        <p:txBody>
          <a:bodyPr wrap="square" lIns="0" tIns="0" rIns="0" bIns="0" anchor="t"/>
          <a:lstStyle/>
          <a:p/>
        </p:txBody>
      </p:sp>
      <p:sp>
        <p:nvSpPr>
          <p:cNvPr id="14" name="Pct 1.1"/>
          <p:cNvSpPr/>
          <p:nvPr/>
        </p:nvSpPr>
        <p:spPr>
          <a:xfrm>
            <a:off x="4991100" y="4705350"/>
            <a:ext cx="8191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1300" b="1" dirty="0">
                <a:solidFill>
                  <a:srgbClr val="60A5FA"/>
                </a:solidFill>
                <a:latin typeface="Segoe UI"/>
                <a:cs typeface="Segoe UI"/>
              </a:rPr>
              <a:t>42 %</a:t>
            </a:r>
          </a:p>
        </p:txBody>
      </p:sp>
      <p:sp>
        <p:nvSpPr>
          <p:cNvPr id="15" name="Baie 1.2"/>
          <p:cNvSpPr/>
          <p:nvPr/>
        </p:nvSpPr>
        <p:spPr>
          <a:xfrm>
            <a:off x="857250" y="5029200"/>
            <a:ext cx="4953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200" b="1" dirty="0">
                <a:solidFill>
                  <a:srgbClr val="F5F8FE"/>
                </a:solidFill>
                <a:latin typeface="Segoe UI"/>
                <a:cs typeface="Segoe UI"/>
              </a:rPr>
              <a:t>RACK-A — Siège Casablanca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  ·  24/24U occupés</a:t>
            </a:r>
          </a:p>
        </p:txBody>
      </p:sp>
      <p:sp>
        <p:nvSpPr>
          <p:cNvPr id="16" name="Piste 1.2"/>
          <p:cNvSpPr/>
          <p:nvPr/>
        </p:nvSpPr>
        <p:spPr>
          <a:xfrm>
            <a:off x="857250" y="5276850"/>
            <a:ext cx="4019550" cy="9525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7144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/>
        </p:txBody>
      </p:sp>
      <p:sp>
        <p:nvSpPr>
          <p:cNvPr id="17" name="Jauge 1.2"/>
          <p:cNvSpPr/>
          <p:nvPr/>
        </p:nvSpPr>
        <p:spPr>
          <a:xfrm>
            <a:off x="857250" y="5276850"/>
            <a:ext cx="4019550" cy="95250"/>
          </a:xfrm>
          <a:prstGeom prst="roundRect">
            <a:avLst>
              <a:gd name="adj" fmla="val 50000"/>
            </a:avLst>
          </a:prstGeom>
          <a:solidFill>
            <a:srgbClr val="60A5FA"/>
          </a:solidFill>
        </p:spPr>
        <p:txBody>
          <a:bodyPr wrap="square" lIns="0" tIns="0" rIns="0" bIns="0" anchor="t"/>
          <a:lstStyle/>
          <a:p/>
        </p:txBody>
      </p:sp>
      <p:sp>
        <p:nvSpPr>
          <p:cNvPr id="18" name="Pct 1.2"/>
          <p:cNvSpPr/>
          <p:nvPr/>
        </p:nvSpPr>
        <p:spPr>
          <a:xfrm>
            <a:off x="4991100" y="5200650"/>
            <a:ext cx="8191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1300" b="1" dirty="0">
                <a:solidFill>
                  <a:srgbClr val="60A5FA"/>
                </a:solidFill>
                <a:latin typeface="Segoe UI"/>
                <a:cs typeface="Segoe UI"/>
              </a:rPr>
              <a:t>100 %</a:t>
            </a:r>
          </a:p>
        </p:txBody>
      </p:sp>
      <p:sp>
        <p:nvSpPr>
          <p:cNvPr id="19" name="Site 2"/>
          <p:cNvSpPr/>
          <p:nvPr/>
        </p:nvSpPr>
        <p:spPr>
          <a:xfrm>
            <a:off x="6286500" y="1504950"/>
            <a:ext cx="5448300" cy="4514850"/>
          </a:xfrm>
          <a:prstGeom prst="roundRect">
            <a:avLst>
              <a:gd name="adj" fmla="val 6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0" tIns="0" rIns="0" bIns="0" anchor="t"/>
          <a:lstStyle/>
          <a:p/>
        </p:txBody>
      </p:sp>
      <p:sp>
        <p:nvSpPr>
          <p:cNvPr id="20" name="Type 2"/>
          <p:cNvSpPr/>
          <p:nvPr/>
        </p:nvSpPr>
        <p:spPr>
          <a:xfrm>
            <a:off x="10096500" y="1676400"/>
            <a:ext cx="1447800" cy="285750"/>
          </a:xfrm>
          <a:prstGeom prst="roundRect">
            <a:avLst>
              <a:gd name="adj" fmla="val 50000"/>
            </a:avLst>
          </a:prstGeom>
          <a:solidFill>
            <a:srgbClr val="34D399">
              <a:alpha val="16000"/>
            </a:srgbClr>
          </a:solidFill>
          <a:ln w="9525" cap="rnd">
            <a:solidFill>
              <a:srgbClr val="34D399">
                <a:alpha val="50000"/>
              </a:srgbClr>
            </a:solidFill>
          </a:ln>
        </p:spPr>
        <p:txBody>
          <a:bodyPr wrap="square" lIns="47625" tIns="28575" rIns="47625" bIns="28575" anchor="ctr"/>
          <a:lstStyle/>
          <a:p>
            <a:pPr algn="ctr">
              <a:buNone/>
            </a:pPr>
            <a:r>
              <a:rPr lang="fr-FR" sz="950" b="1" spc="60" dirty="0">
                <a:solidFill>
                  <a:srgbClr val="34D399"/>
                </a:solidFill>
                <a:latin typeface="Segoe UI"/>
                <a:cs typeface="Segoe UI"/>
              </a:rPr>
              <a:t>Agence</a:t>
            </a:r>
          </a:p>
        </p:txBody>
      </p:sp>
      <p:sp>
        <p:nvSpPr>
          <p:cNvPr id="21" name="Contenu site 2"/>
          <p:cNvSpPr/>
          <p:nvPr/>
        </p:nvSpPr>
        <p:spPr>
          <a:xfrm>
            <a:off x="6534150" y="1714500"/>
            <a:ext cx="3409950" cy="1428750"/>
          </a:xfrm>
          <a:prstGeom prst="rect">
            <a:avLst/>
          </a:prstGeom>
          <a:noFill/>
        </p:spPr>
        <p:txBody>
          <a:bodyPr wrap="square" lIns="0" tIns="0" rIns="57150" bIns="0" anchor="t"/>
          <a:lstStyle/>
          <a:p>
            <a:pPr>
              <a:lnSpc>
                <a:spcPct val="104000"/>
              </a:lnSpc>
              <a:buNone/>
            </a:pPr>
            <a:r>
              <a:rPr lang="fr-FR" sz="1300" dirty="0">
                <a:solidFill>
                  <a:srgbClr val="34D399"/>
                </a:solidFill>
                <a:latin typeface="Segoe UI"/>
                <a:cs typeface="Segoe UI"/>
              </a:rPr>
              <a:t>● </a:t>
            </a:r>
            <a:r>
              <a:rPr lang="fr-FR" sz="1550" b="1" dirty="0">
                <a:solidFill>
                  <a:srgbClr val="F5F8FE"/>
                </a:solidFill>
                <a:latin typeface="Segoe UI"/>
                <a:cs typeface="Segoe UI"/>
              </a:rPr>
              <a:t>Agence Rabat</a:t>
            </a:r>
          </a:p>
          <a:p>
            <a:pPr>
              <a:spcBef>
                <a:spcPts val="800"/>
              </a:spcBef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Angle avenue Mohammed V, Rabat</a:t>
            </a:r>
          </a:p>
          <a:p>
            <a:pPr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Support N2 — support@demo.ma — +212 5 37 00 00 00</a:t>
            </a:r>
          </a:p>
        </p:txBody>
      </p:sp>
      <p:sp>
        <p:nvSpPr>
          <p:cNvPr id="22" name="Description 2"/>
          <p:cNvSpPr/>
          <p:nvPr/>
        </p:nvSpPr>
        <p:spPr>
          <a:xfrm>
            <a:off x="6534150" y="3219450"/>
            <a:ext cx="4953000" cy="1123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34000"/>
              </a:lnSpc>
              <a:buNone/>
            </a:pPr>
            <a:r>
              <a:rPr lang="fr-FR" sz="1100" dirty="0">
                <a:solidFill>
                  <a:srgbClr val="6E80A0"/>
                </a:solidFill>
                <a:latin typeface="Segoe UI"/>
                <a:cs typeface="Segoe UI"/>
              </a:rPr>
              <a:t>Baie secondaire RACK-B (18U) : pare-feu WatchGuard, routeur SD-WAN Peplink, switch d'accès Aruba, NAS de réplication, borne WiFi, capteur environnemental AKCP, IDS, imprimantes, onduleur et climatisat</a:t>
            </a:r>
          </a:p>
        </p:txBody>
      </p:sp>
      <p:sp>
        <p:nvSpPr>
          <p:cNvPr id="23" name="Baie 2.1"/>
          <p:cNvSpPr/>
          <p:nvPr/>
        </p:nvSpPr>
        <p:spPr>
          <a:xfrm>
            <a:off x="6534150" y="4533900"/>
            <a:ext cx="49530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200" b="1" dirty="0">
                <a:solidFill>
                  <a:srgbClr val="F5F8FE"/>
                </a:solidFill>
                <a:latin typeface="Segoe UI"/>
                <a:cs typeface="Segoe UI"/>
              </a:rPr>
              <a:t>RACK-B — Agence Rabat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  ·  15/18U occupés</a:t>
            </a:r>
          </a:p>
        </p:txBody>
      </p:sp>
      <p:sp>
        <p:nvSpPr>
          <p:cNvPr id="24" name="Piste 2.1"/>
          <p:cNvSpPr/>
          <p:nvPr/>
        </p:nvSpPr>
        <p:spPr>
          <a:xfrm>
            <a:off x="6534150" y="4781550"/>
            <a:ext cx="4019550" cy="9525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7144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/>
        </p:txBody>
      </p:sp>
      <p:sp>
        <p:nvSpPr>
          <p:cNvPr id="25" name="Jauge 2.1"/>
          <p:cNvSpPr/>
          <p:nvPr/>
        </p:nvSpPr>
        <p:spPr>
          <a:xfrm>
            <a:off x="6534150" y="4781550"/>
            <a:ext cx="3352800" cy="95250"/>
          </a:xfrm>
          <a:prstGeom prst="roundRect">
            <a:avLst>
              <a:gd name="adj" fmla="val 50000"/>
            </a:avLst>
          </a:prstGeom>
          <a:solidFill>
            <a:srgbClr val="34D399"/>
          </a:solidFill>
        </p:spPr>
        <p:txBody>
          <a:bodyPr wrap="square" lIns="0" tIns="0" rIns="0" bIns="0" anchor="t"/>
          <a:lstStyle/>
          <a:p/>
        </p:txBody>
      </p:sp>
      <p:sp>
        <p:nvSpPr>
          <p:cNvPr id="26" name="Pct 2.1"/>
          <p:cNvSpPr/>
          <p:nvPr/>
        </p:nvSpPr>
        <p:spPr>
          <a:xfrm>
            <a:off x="10668000" y="4705350"/>
            <a:ext cx="8191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1300" b="1" dirty="0">
                <a:solidFill>
                  <a:srgbClr val="34D399"/>
                </a:solidFill>
                <a:latin typeface="Segoe UI"/>
                <a:cs typeface="Segoe UI"/>
              </a:rPr>
              <a:t>83 %</a:t>
            </a:r>
          </a:p>
        </p:txBody>
      </p:sp>
      <p:sp>
        <p:nvSpPr>
          <p:cNvPr id="27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28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4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 dur="6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withEffect" dur="6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"/>
                            </p:stCondLst>
                            <p:childTnLst>
                              <p:par>
                                <p:cTn id="29" presetID="10" presetClass="entr" presetSubtype="0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0"/>
                            </p:stCondLst>
                            <p:childTnLst>
                              <p:par>
                                <p:cTn id="33" presetID="10" presetClass="entr" presetSubtype="0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0"/>
                            </p:stCondLst>
                            <p:childTnLst>
                              <p:par>
                                <p:cTn id="37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60"/>
                            </p:stCondLst>
                            <p:childTnLst>
                              <p:par>
                                <p:cTn id="41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80"/>
                            </p:stCondLst>
                            <p:childTnLst>
                              <p:par>
                                <p:cTn id="45" presetID="22" presetClass="entr" presetSubtype="2" fill="hold" grpId="0" nodeType="withEffect" dur="7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60"/>
                            </p:stCondLst>
                            <p:childTnLst>
                              <p:par>
                                <p:cTn id="49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60"/>
                            </p:stCondLst>
                            <p:childTnLst>
                              <p:par>
                                <p:cTn id="53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60"/>
                            </p:stCondLst>
                            <p:childTnLst>
                              <p:par>
                                <p:cTn id="57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80"/>
                            </p:stCondLst>
                            <p:childTnLst>
                              <p:par>
                                <p:cTn id="61" presetID="22" presetClass="entr" presetSubtype="2" fill="hold" grpId="0" nodeType="withEffect" dur="7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60"/>
                            </p:stCondLst>
                            <p:childTnLst>
                              <p:par>
                                <p:cTn id="65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70"/>
                            </p:stCondLst>
                            <p:childTnLst>
                              <p:par>
                                <p:cTn id="69" presetID="2" presetClass="entr" presetSubtype="4" fill="hold" grpId="0" nodeType="withEffect" dur="6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70"/>
                            </p:stCondLst>
                            <p:childTnLst>
                              <p:par>
                                <p:cTn id="74" presetID="2" presetClass="entr" presetSubtype="4" fill="hold" grpId="0" nodeType="withEffect" dur="6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20"/>
                            </p:stCondLst>
                            <p:childTnLst>
                              <p:par>
                                <p:cTn id="79" presetID="10" presetClass="entr" presetSubtype="0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450"/>
                            </p:stCondLst>
                            <p:childTnLst>
                              <p:par>
                                <p:cTn id="83" presetID="10" presetClass="entr" presetSubtype="0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30"/>
                            </p:stCondLst>
                            <p:childTnLst>
                              <p:par>
                                <p:cTn id="87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30"/>
                            </p:stCondLst>
                            <p:childTnLst>
                              <p:par>
                                <p:cTn id="91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650"/>
                            </p:stCondLst>
                            <p:childTnLst>
                              <p:par>
                                <p:cTn id="95" presetID="22" presetClass="entr" presetSubtype="2" fill="hold" grpId="0" nodeType="withEffect" dur="7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30"/>
                            </p:stCondLst>
                            <p:childTnLst>
                              <p:par>
                                <p:cTn id="99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ARCHITECTURE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Architecture cible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/>
        </p:txBody>
      </p:sp>
      <p:sp>
        <p:nvSpPr>
          <p:cNvPr id="7" name="Intro"/>
          <p:cNvSpPr/>
          <p:nvPr/>
        </p:nvSpPr>
        <p:spPr>
          <a:xfrm>
            <a:off x="609600" y="1371600"/>
            <a:ext cx="10972800" cy="514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26000"/>
              </a:lnSpc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Le siège (RACK-A, 24U) concentre la production : le cluster Nutanix NX-01 à NX-03 porte les machines virtuelles (ERP, AD/DNS, fichiers, Veeam, BI, reverse-proxy), le Dell R740 héberge la supervision, le NAS-01 sert de cible de sauvegarde. Le switch…</a:t>
            </a:r>
          </a:p>
        </p:txBody>
      </p:sp>
      <p:sp>
        <p:nvSpPr>
          <p:cNvPr id="8" name="Bande 1"/>
          <p:cNvSpPr/>
          <p:nvPr/>
        </p:nvSpPr>
        <p:spPr>
          <a:xfrm>
            <a:off x="609600" y="1962150"/>
            <a:ext cx="7048500" cy="62865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09550" tIns="57150" rIns="171450" bIns="57150" anchor="ctr"/>
          <a:lstStyle/>
          <a:p>
            <a:pPr>
              <a:buNone/>
            </a:pPr>
            <a:r>
              <a:rPr lang="fr-FR" sz="1500" dirty="0">
                <a:solidFill>
                  <a:srgbClr val="F5F8FE"/>
                </a:solidFill>
                <a:latin typeface="Segoe UI"/>
                <a:cs typeface="Segoe UI"/>
              </a:rPr>
              <a:t>☁️  </a:t>
            </a:r>
            <a:r>
              <a:rPr lang="fr-FR" sz="1450" b="1" dirty="0">
                <a:solidFill>
                  <a:srgbClr val="F5F8FE"/>
                </a:solidFill>
                <a:latin typeface="Segoe UI"/>
                <a:cs typeface="Segoe UI"/>
              </a:rPr>
              <a:t>Internet &amp; WAN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   Accès opérateur, services cloud, SaaS</a:t>
            </a:r>
          </a:p>
        </p:txBody>
      </p:sp>
      <p:sp>
        <p:nvSpPr>
          <p:cNvPr id="9" name="Bande accent 1"/>
          <p:cNvSpPr/>
          <p:nvPr/>
        </p:nvSpPr>
        <p:spPr>
          <a:xfrm>
            <a:off x="609600" y="1962150"/>
            <a:ext cx="66675" cy="6286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 wrap="square" lIns="0" tIns="0" rIns="0" bIns="0" anchor="t"/>
          <a:lstStyle/>
          <a:p/>
        </p:txBody>
      </p:sp>
      <p:sp>
        <p:nvSpPr>
          <p:cNvPr id="10" name="Flèche 1"/>
          <p:cNvSpPr/>
          <p:nvPr/>
        </p:nvSpPr>
        <p:spPr>
          <a:xfrm>
            <a:off x="4000500" y="2638425"/>
            <a:ext cx="209550" cy="152400"/>
          </a:xfrm>
          <a:prstGeom prst="downArrow">
            <a:avLst/>
          </a:prstGeom>
          <a:solidFill>
            <a:srgbClr val="22D3EE">
              <a:alpha val="70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11" name="Bande 2"/>
          <p:cNvSpPr/>
          <p:nvPr/>
        </p:nvSpPr>
        <p:spPr>
          <a:xfrm>
            <a:off x="609600" y="2838450"/>
            <a:ext cx="7048500" cy="62865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09550" tIns="57150" rIns="171450" bIns="57150" anchor="ctr"/>
          <a:lstStyle/>
          <a:p>
            <a:pPr>
              <a:buNone/>
            </a:pPr>
            <a:r>
              <a:rPr lang="fr-FR" sz="1500" dirty="0">
                <a:solidFill>
                  <a:srgbClr val="F5F8FE"/>
                </a:solidFill>
                <a:latin typeface="Segoe UI"/>
                <a:cs typeface="Segoe UI"/>
              </a:rPr>
              <a:t>📡  </a:t>
            </a:r>
            <a:r>
              <a:rPr lang="fr-FR" sz="1450" b="1" dirty="0">
                <a:solidFill>
                  <a:srgbClr val="F5F8FE"/>
                </a:solidFill>
                <a:latin typeface="Segoe UI"/>
                <a:cs typeface="Segoe UI"/>
              </a:rPr>
              <a:t>Routeurs FAI &amp; SD-WAN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   Liens opérateur redondés, débit garanti</a:t>
            </a:r>
          </a:p>
        </p:txBody>
      </p:sp>
      <p:sp>
        <p:nvSpPr>
          <p:cNvPr id="12" name="Bande accent 2"/>
          <p:cNvSpPr/>
          <p:nvPr/>
        </p:nvSpPr>
        <p:spPr>
          <a:xfrm>
            <a:off x="609600" y="2838450"/>
            <a:ext cx="66675" cy="6286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</p:spPr>
        <p:txBody>
          <a:bodyPr wrap="square" lIns="0" tIns="0" rIns="0" bIns="0" anchor="t"/>
          <a:lstStyle/>
          <a:p/>
        </p:txBody>
      </p:sp>
      <p:sp>
        <p:nvSpPr>
          <p:cNvPr id="13" name="Flèche 2"/>
          <p:cNvSpPr/>
          <p:nvPr/>
        </p:nvSpPr>
        <p:spPr>
          <a:xfrm>
            <a:off x="4000500" y="3514725"/>
            <a:ext cx="209550" cy="152400"/>
          </a:xfrm>
          <a:prstGeom prst="downArrow">
            <a:avLst/>
          </a:prstGeom>
          <a:solidFill>
            <a:srgbClr val="22D3EE">
              <a:alpha val="70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14" name="Bande 3"/>
          <p:cNvSpPr/>
          <p:nvPr/>
        </p:nvSpPr>
        <p:spPr>
          <a:xfrm>
            <a:off x="609600" y="3714750"/>
            <a:ext cx="7048500" cy="62865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09550" tIns="57150" rIns="171450" bIns="57150" anchor="ctr"/>
          <a:lstStyle/>
          <a:p>
            <a:pPr>
              <a:buNone/>
            </a:pPr>
            <a:r>
              <a:rPr lang="fr-FR" sz="1500" dirty="0">
                <a:solidFill>
                  <a:srgbClr val="F5F8FE"/>
                </a:solidFill>
                <a:latin typeface="Segoe UI"/>
                <a:cs typeface="Segoe UI"/>
              </a:rPr>
              <a:t>🛡️  </a:t>
            </a:r>
            <a:r>
              <a:rPr lang="fr-FR" sz="1450" b="1" dirty="0">
                <a:solidFill>
                  <a:srgbClr val="F5F8FE"/>
                </a:solidFill>
                <a:latin typeface="Segoe UI"/>
                <a:cs typeface="Segoe UI"/>
              </a:rPr>
              <a:t>Pare-feu &amp; sécurité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   Filtrage, NAT, VPN, inspection</a:t>
            </a:r>
          </a:p>
        </p:txBody>
      </p:sp>
      <p:sp>
        <p:nvSpPr>
          <p:cNvPr id="15" name="Bande accent 3"/>
          <p:cNvSpPr/>
          <p:nvPr/>
        </p:nvSpPr>
        <p:spPr>
          <a:xfrm>
            <a:off x="609600" y="3714750"/>
            <a:ext cx="66675" cy="628650"/>
          </a:xfrm>
          <a:prstGeom prst="roundRect">
            <a:avLst>
              <a:gd name="adj" fmla="val 50000"/>
            </a:avLst>
          </a:prstGeom>
          <a:solidFill>
            <a:srgbClr val="F87171"/>
          </a:solidFill>
        </p:spPr>
        <p:txBody>
          <a:bodyPr wrap="square" lIns="0" tIns="0" rIns="0" bIns="0" anchor="t"/>
          <a:lstStyle/>
          <a:p/>
        </p:txBody>
      </p:sp>
      <p:sp>
        <p:nvSpPr>
          <p:cNvPr id="16" name="Flèche 3"/>
          <p:cNvSpPr/>
          <p:nvPr/>
        </p:nvSpPr>
        <p:spPr>
          <a:xfrm>
            <a:off x="4000500" y="4391025"/>
            <a:ext cx="209550" cy="152400"/>
          </a:xfrm>
          <a:prstGeom prst="downArrow">
            <a:avLst/>
          </a:prstGeom>
          <a:solidFill>
            <a:srgbClr val="22D3EE">
              <a:alpha val="70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17" name="Bande 4"/>
          <p:cNvSpPr/>
          <p:nvPr/>
        </p:nvSpPr>
        <p:spPr>
          <a:xfrm>
            <a:off x="609600" y="4591050"/>
            <a:ext cx="7048500" cy="62865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09550" tIns="57150" rIns="171450" bIns="57150" anchor="ctr"/>
          <a:lstStyle/>
          <a:p>
            <a:pPr>
              <a:buNone/>
            </a:pPr>
            <a:r>
              <a:rPr lang="fr-FR" sz="1500" dirty="0">
                <a:solidFill>
                  <a:srgbClr val="F5F8FE"/>
                </a:solidFill>
                <a:latin typeface="Segoe UI"/>
                <a:cs typeface="Segoe UI"/>
              </a:rPr>
              <a:t>🔀  </a:t>
            </a:r>
            <a:r>
              <a:rPr lang="fr-FR" sz="1450" b="1" dirty="0">
                <a:solidFill>
                  <a:srgbClr val="F5F8FE"/>
                </a:solidFill>
                <a:latin typeface="Segoe UI"/>
                <a:cs typeface="Segoe UI"/>
              </a:rPr>
              <a:t>Cœur de réseau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   Switching cœur / distribution / accès</a:t>
            </a:r>
          </a:p>
        </p:txBody>
      </p:sp>
      <p:sp>
        <p:nvSpPr>
          <p:cNvPr id="18" name="Bande accent 4"/>
          <p:cNvSpPr/>
          <p:nvPr/>
        </p:nvSpPr>
        <p:spPr>
          <a:xfrm>
            <a:off x="609600" y="4591050"/>
            <a:ext cx="66675" cy="628650"/>
          </a:xfrm>
          <a:prstGeom prst="roundRect">
            <a:avLst>
              <a:gd name="adj" fmla="val 50000"/>
            </a:avLst>
          </a:prstGeom>
          <a:solidFill>
            <a:srgbClr val="818CF8"/>
          </a:solidFill>
        </p:spPr>
        <p:txBody>
          <a:bodyPr wrap="square" lIns="0" tIns="0" rIns="0" bIns="0" anchor="t"/>
          <a:lstStyle/>
          <a:p/>
        </p:txBody>
      </p:sp>
      <p:sp>
        <p:nvSpPr>
          <p:cNvPr id="19" name="Flèche 4"/>
          <p:cNvSpPr/>
          <p:nvPr/>
        </p:nvSpPr>
        <p:spPr>
          <a:xfrm>
            <a:off x="4000500" y="5267325"/>
            <a:ext cx="209550" cy="152400"/>
          </a:xfrm>
          <a:prstGeom prst="downArrow">
            <a:avLst/>
          </a:prstGeom>
          <a:solidFill>
            <a:srgbClr val="22D3EE">
              <a:alpha val="70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20" name="Bande 5"/>
          <p:cNvSpPr/>
          <p:nvPr/>
        </p:nvSpPr>
        <p:spPr>
          <a:xfrm>
            <a:off x="609600" y="5467350"/>
            <a:ext cx="7048500" cy="62865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09550" tIns="57150" rIns="171450" bIns="57150" anchor="ctr"/>
          <a:lstStyle/>
          <a:p>
            <a:pPr>
              <a:buNone/>
            </a:pPr>
            <a:r>
              <a:rPr lang="fr-FR" sz="1500" dirty="0">
                <a:solidFill>
                  <a:srgbClr val="F5F8FE"/>
                </a:solidFill>
                <a:latin typeface="Segoe UI"/>
                <a:cs typeface="Segoe UI"/>
              </a:rPr>
              <a:t>🗄️  </a:t>
            </a:r>
            <a:r>
              <a:rPr lang="fr-FR" sz="1450" b="1" dirty="0">
                <a:solidFill>
                  <a:srgbClr val="F5F8FE"/>
                </a:solidFill>
                <a:latin typeface="Segoe UI"/>
                <a:cs typeface="Segoe UI"/>
              </a:rPr>
              <a:t>Serveurs, stockage &amp; VMs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   Hyperconvergence, NAS, supervision</a:t>
            </a:r>
          </a:p>
        </p:txBody>
      </p:sp>
      <p:sp>
        <p:nvSpPr>
          <p:cNvPr id="21" name="Bande accent 5"/>
          <p:cNvSpPr/>
          <p:nvPr/>
        </p:nvSpPr>
        <p:spPr>
          <a:xfrm>
            <a:off x="609600" y="5467350"/>
            <a:ext cx="66675" cy="628650"/>
          </a:xfrm>
          <a:prstGeom prst="roundRect">
            <a:avLst>
              <a:gd name="adj" fmla="val 50000"/>
            </a:avLst>
          </a:prstGeom>
          <a:solidFill>
            <a:srgbClr val="34D399"/>
          </a:solidFill>
        </p:spPr>
        <p:txBody>
          <a:bodyPr wrap="square" lIns="0" tIns="0" rIns="0" bIns="0" anchor="t"/>
          <a:lstStyle/>
          <a:p/>
        </p:txBody>
      </p:sp>
      <p:sp>
        <p:nvSpPr>
          <p:cNvPr id="22" name="Rail S2S"/>
          <p:cNvSpPr/>
          <p:nvPr/>
        </p:nvSpPr>
        <p:spPr>
          <a:xfrm>
            <a:off x="8039100" y="1962150"/>
            <a:ext cx="3543300" cy="4133850"/>
          </a:xfrm>
          <a:prstGeom prst="roundRect">
            <a:avLst>
              <a:gd name="adj" fmla="val 7000"/>
            </a:avLst>
          </a:prstGeom>
          <a:solidFill>
            <a:srgbClr val="0E1830"/>
          </a:solidFill>
          <a:ln w="11430" cap="rnd">
            <a:solidFill>
              <a:srgbClr val="22D3EE">
                <a:alpha val="45000"/>
              </a:srgbClr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28600" tIns="209550" rIns="209550" bIns="152400" anchor="t"/>
          <a:lstStyle/>
          <a:p>
            <a:pPr>
              <a:spcAft>
                <a:spcPts val="600"/>
              </a:spcAft>
              <a:buNone/>
            </a:pPr>
            <a:r>
              <a:rPr lang="fr-FR" sz="1800" dirty="0">
                <a:solidFill>
                  <a:srgbClr val="F5F8FE"/>
                </a:solidFill>
                <a:latin typeface="Segoe UI"/>
                <a:cs typeface="Segoe UI"/>
              </a:rPr>
              <a:t>🔗</a:t>
            </a:r>
          </a:p>
          <a:p>
            <a:pPr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Interconnexion</a:t>
            </a:r>
          </a:p>
          <a:p>
            <a:pPr>
              <a:lnSpc>
                <a:spcPct val="104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site à site</a:t>
            </a:r>
          </a:p>
          <a:p>
            <a:pPr>
              <a:lnSpc>
                <a:spcPct val="136000"/>
              </a:lnSpc>
              <a:spcBef>
                <a:spcPts val="1000"/>
              </a:spcBef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Tunnel chiffré IPsec / SD-WAN entre les sites, redondance des liens et politique de filtrage centralisée.</a:t>
            </a:r>
          </a:p>
          <a:p>
            <a:pPr>
              <a:spcBef>
                <a:spcPts val="1600"/>
              </a:spcBef>
              <a:buNone/>
            </a:pPr>
            <a:r>
              <a:rPr lang="fr-FR" sz="950" b="1" spc="180" dirty="0">
                <a:solidFill>
                  <a:srgbClr val="22D3EE"/>
                </a:solidFill>
                <a:latin typeface="Segoe UI"/>
                <a:cs typeface="Segoe UI"/>
              </a:rPr>
              <a:t>SITES RELIÉS</a:t>
            </a:r>
          </a:p>
          <a:p>
            <a:pPr>
              <a:lnSpc>
                <a:spcPct val="118000"/>
              </a:lnSpc>
              <a:spcBef>
                <a:spcPts val="800"/>
              </a:spcBef>
              <a:buNone/>
            </a:pPr>
            <a:r>
              <a:rPr lang="fr-FR" sz="1100" dirty="0">
                <a:solidFill>
                  <a:srgbClr val="60A5FA"/>
                </a:solidFill>
                <a:latin typeface="Segoe UI"/>
                <a:cs typeface="Segoe UI"/>
              </a:rPr>
              <a:t>●  </a:t>
            </a:r>
            <a:r>
              <a:rPr lang="fr-FR" sz="1150" dirty="0">
                <a:solidFill>
                  <a:srgbClr val="F5F8FE"/>
                </a:solidFill>
                <a:latin typeface="Segoe UI"/>
                <a:cs typeface="Segoe UI"/>
              </a:rPr>
              <a:t>Datacenter Siège — Casabl…</a:t>
            </a:r>
            <a:r>
              <a:rPr lang="fr-FR" sz="1000" dirty="0">
                <a:solidFill>
                  <a:srgbClr val="6E80A0"/>
                </a:solidFill>
                <a:latin typeface="Segoe UI"/>
                <a:cs typeface="Segoe UI"/>
              </a:rPr>
              <a:t>  Siège / Dat…</a:t>
            </a:r>
          </a:p>
          <a:p>
            <a:pPr>
              <a:lnSpc>
                <a:spcPct val="118000"/>
              </a:lnSpc>
              <a:spcBef>
                <a:spcPts val="800"/>
              </a:spcBef>
              <a:buNone/>
            </a:pPr>
            <a:r>
              <a:rPr lang="fr-FR" sz="1100" dirty="0">
                <a:solidFill>
                  <a:srgbClr val="34D399"/>
                </a:solidFill>
                <a:latin typeface="Segoe UI"/>
                <a:cs typeface="Segoe UI"/>
              </a:rPr>
              <a:t>●  </a:t>
            </a:r>
            <a:r>
              <a:rPr lang="fr-FR" sz="1150" dirty="0">
                <a:solidFill>
                  <a:srgbClr val="F5F8FE"/>
                </a:solidFill>
                <a:latin typeface="Segoe UI"/>
                <a:cs typeface="Segoe UI"/>
              </a:rPr>
              <a:t>Agence Rabat</a:t>
            </a:r>
            <a:r>
              <a:rPr lang="fr-FR" sz="1000" dirty="0">
                <a:solidFill>
                  <a:srgbClr val="6E80A0"/>
                </a:solidFill>
                <a:latin typeface="Segoe UI"/>
                <a:cs typeface="Segoe UI"/>
              </a:rPr>
              <a:t>  Agence</a:t>
            </a:r>
          </a:p>
          <a:p>
            <a:pPr>
              <a:lnSpc>
                <a:spcPct val="130000"/>
              </a:lnSpc>
              <a:spcBef>
                <a:spcPts val="1600"/>
              </a:spcBef>
              <a:buNone/>
            </a:pP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Bascule HA, supervision des liens et revue périodique des règles font partie du modèle opérationnel.</a:t>
            </a:r>
          </a:p>
        </p:txBody>
      </p:sp>
      <p:cxnSp>
        <p:nvCxnSpPr>
          <p:cNvPr id="23" name="Lien S2S"/>
          <p:cNvCxnSpPr/>
          <p:nvPr/>
        </p:nvCxnSpPr>
        <p:spPr>
          <a:xfrm>
            <a:off x="7658100" y="3152775"/>
            <a:ext cx="381000" cy="38100"/>
          </a:xfrm>
          <a:prstGeom prst="line">
            <a:avLst/>
          </a:prstGeom>
          <a:ln w="15240" cap="rnd">
            <a:solidFill>
              <a:srgbClr val="22D3EE"/>
            </a:solidFill>
            <a:prstDash val="dash"/>
          </a:ln>
        </p:spPr>
      </p:cxnSp>
      <p:sp>
        <p:nvSpPr>
          <p:cNvPr id="24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25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5 / 14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"/>
                            </p:stCondLst>
                            <p:childTnLst>
                              <p:par>
                                <p:cTn id="23" presetID="2" presetClass="entr" presetSubtype="4" fill="hold" grpId="0" nodeType="withEffect" dur="6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"/>
                            </p:stCondLst>
                            <p:childTnLst>
                              <p:par>
                                <p:cTn id="28" presetID="22" presetClass="entr" presetSubtype="4" fill="hold" grpId="0" nodeType="withEffect" dur="6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10"/>
                            </p:stCondLst>
                            <p:childTnLst>
                              <p:par>
                                <p:cTn id="32" presetID="10" presetClass="entr" presetSubtype="0" fill="hold" grpId="0" nodeType="withEffect" dur="4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90"/>
                            </p:stCondLst>
                            <p:childTnLst>
                              <p:par>
                                <p:cTn id="36" presetID="2" presetClass="entr" presetSubtype="4" fill="hold" grpId="0" nodeType="withEffect" dur="6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90"/>
                            </p:stCondLst>
                            <p:childTnLst>
                              <p:par>
                                <p:cTn id="41" presetID="22" presetClass="entr" presetSubtype="4" fill="hold" grpId="0" nodeType="withEffect" dur="6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"/>
                            </p:stCondLst>
                            <p:childTnLst>
                              <p:par>
                                <p:cTn id="45" presetID="10" presetClass="entr" presetSubtype="0" fill="hold" grpId="0" nodeType="withEffect" dur="4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30"/>
                            </p:stCondLst>
                            <p:childTnLst>
                              <p:par>
                                <p:cTn id="49" presetID="2" presetClass="entr" presetSubtype="4" fill="hold" grpId="0" nodeType="withEffect" dur="6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30"/>
                            </p:stCondLst>
                            <p:childTnLst>
                              <p:par>
                                <p:cTn id="54" presetID="22" presetClass="entr" presetSubtype="4" fill="hold" grpId="0" nodeType="withEffect" dur="6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90"/>
                            </p:stCondLst>
                            <p:childTnLst>
                              <p:par>
                                <p:cTn id="58" presetID="10" presetClass="entr" presetSubtype="0" fill="hold" grpId="0" nodeType="withEffect" dur="4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870"/>
                            </p:stCondLst>
                            <p:childTnLst>
                              <p:par>
                                <p:cTn id="62" presetID="2" presetClass="entr" presetSubtype="4" fill="hold" grpId="0" nodeType="withEffect" dur="6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870"/>
                            </p:stCondLst>
                            <p:childTnLst>
                              <p:par>
                                <p:cTn id="67" presetID="22" presetClass="entr" presetSubtype="4" fill="hold" grpId="0" nodeType="withEffect" dur="6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30"/>
                            </p:stCondLst>
                            <p:childTnLst>
                              <p:par>
                                <p:cTn id="71" presetID="10" presetClass="entr" presetSubtype="0" fill="hold" grpId="0" nodeType="withEffect" dur="4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110"/>
                            </p:stCondLst>
                            <p:childTnLst>
                              <p:par>
                                <p:cTn id="75" presetID="2" presetClass="entr" presetSubtype="4" fill="hold" grpId="0" nodeType="withEffect" dur="6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110"/>
                            </p:stCondLst>
                            <p:childTnLst>
                              <p:par>
                                <p:cTn id="80" presetID="22" presetClass="entr" presetSubtype="4" fill="hold" grpId="0" nodeType="withEffect" dur="6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350"/>
                            </p:stCondLst>
                            <p:childTnLst>
                              <p:par>
                                <p:cTn id="84" presetID="2" presetClass="entr" presetSubtype="4" fill="hold" grpId="0" nodeType="withEffect" dur="6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350"/>
                            </p:stCondLst>
                            <p:childTnLst>
                              <p:par>
                                <p:cTn id="89" presetID="22" presetClass="entr" presetSubtype="2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RÉSEAU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Topologie réseau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/>
        </p:txBody>
      </p:sp>
      <p:sp>
        <p:nvSpPr>
          <p:cNvPr id="7" name="Cadre topo"/>
          <p:cNvSpPr/>
          <p:nvPr/>
        </p:nvSpPr>
        <p:spPr>
          <a:xfrm>
            <a:off x="609600" y="1485900"/>
            <a:ext cx="8077200" cy="4552950"/>
          </a:xfrm>
          <a:prstGeom prst="roundRect">
            <a:avLst>
              <a:gd name="adj" fmla="val 4000"/>
            </a:avLst>
          </a:prstGeom>
          <a:solidFill>
            <a:srgbClr val="0E1830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0" tIns="0" rIns="0" bIns="0" anchor="t"/>
          <a:lstStyle/>
          <a:p/>
        </p:txBody>
      </p:sp>
      <p:pic>
        <p:nvPicPr>
          <p:cNvPr id="8" name="Topologi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638300"/>
            <a:ext cx="6334125" cy="4248150"/>
          </a:xfrm>
          <a:prstGeom prst="rect">
            <a:avLst/>
          </a:prstGeom>
          <a:ln w="7144" cap="rnd">
            <a:solidFill>
              <a:srgbClr val="273851"/>
            </a:solidFill>
          </a:ln>
        </p:spPr>
      </p:pic>
      <p:sp>
        <p:nvSpPr>
          <p:cNvPr id="9" name="Légende"/>
          <p:cNvSpPr/>
          <p:nvPr/>
        </p:nvSpPr>
        <p:spPr>
          <a:xfrm>
            <a:off x="8991600" y="1485900"/>
            <a:ext cx="2590800" cy="4552950"/>
          </a:xfrm>
          <a:prstGeom prst="roundRect">
            <a:avLst>
              <a:gd name="adj" fmla="val 7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190500" tIns="190500" rIns="152400" bIns="133350" anchor="t"/>
          <a:lstStyle/>
          <a:p>
            <a:pPr>
              <a:buNone/>
            </a:pPr>
            <a:r>
              <a:rPr lang="fr-FR" sz="1000" b="1" spc="200" dirty="0">
                <a:solidFill>
                  <a:srgbClr val="22D3EE"/>
                </a:solidFill>
                <a:latin typeface="Segoe UI"/>
                <a:cs typeface="Segoe UI"/>
              </a:rPr>
              <a:t>PÉRIMÈTRE</a:t>
            </a:r>
          </a:p>
          <a:p>
            <a:pPr>
              <a:lnSpc>
                <a:spcPct val="126000"/>
              </a:lnSpc>
              <a:spcBef>
                <a:spcPts val="800"/>
              </a:spcBef>
              <a:buNone/>
            </a:pP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3 baies · 41 équipements · 43 cordons</a:t>
            </a:r>
          </a:p>
          <a:p>
            <a:pPr>
              <a:spcBef>
                <a:spcPts val="1600"/>
              </a:spcBef>
              <a:buNone/>
            </a:pPr>
            <a:r>
              <a:rPr lang="fr-FR" sz="1000" b="1" spc="200" dirty="0">
                <a:solidFill>
                  <a:srgbClr val="22D3EE"/>
                </a:solidFill>
                <a:latin typeface="Segoe UI"/>
                <a:cs typeface="Segoe UI"/>
              </a:rPr>
              <a:t>DOMAINES</a:t>
            </a:r>
          </a:p>
          <a:p>
            <a:pPr>
              <a:lnSpc>
                <a:spcPct val="118000"/>
              </a:lnSpc>
              <a:spcBef>
                <a:spcPts val="800"/>
              </a:spcBef>
              <a:buNone/>
            </a:pPr>
            <a:r>
              <a:rPr lang="fr-FR" sz="1100" dirty="0">
                <a:solidFill>
                  <a:srgbClr val="F87171"/>
                </a:solidFill>
                <a:latin typeface="Segoe UI"/>
                <a:cs typeface="Segoe UI"/>
              </a:rPr>
              <a:t>●  </a:t>
            </a:r>
            <a:r>
              <a:rPr lang="fr-FR" sz="1150" dirty="0">
                <a:solidFill>
                  <a:srgbClr val="F5F8FE"/>
                </a:solidFill>
                <a:latin typeface="Segoe UI"/>
                <a:cs typeface="Segoe UI"/>
              </a:rPr>
              <a:t>Firewall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2 cordons</a:t>
            </a:r>
          </a:p>
          <a:p>
            <a:pPr>
              <a:lnSpc>
                <a:spcPct val="118000"/>
              </a:lnSpc>
              <a:spcBef>
                <a:spcPts val="800"/>
              </a:spcBef>
              <a:buNone/>
            </a:pP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●  </a:t>
            </a:r>
            <a:r>
              <a:rPr lang="fr-FR" sz="1150" dirty="0">
                <a:solidFill>
                  <a:srgbClr val="F5F8FE"/>
                </a:solidFill>
                <a:latin typeface="Segoe UI"/>
                <a:cs typeface="Segoe UI"/>
              </a:rPr>
              <a:t>Général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18 cordons</a:t>
            </a:r>
          </a:p>
          <a:p>
            <a:pPr>
              <a:lnSpc>
                <a:spcPct val="118000"/>
              </a:lnSpc>
              <a:spcBef>
                <a:spcPts val="800"/>
              </a:spcBef>
              <a:buNone/>
            </a:pP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●  </a:t>
            </a:r>
            <a:r>
              <a:rPr lang="fr-FR" sz="1150" dirty="0">
                <a:solidFill>
                  <a:srgbClr val="F5F8FE"/>
                </a:solidFill>
                <a:latin typeface="Segoe UI"/>
                <a:cs typeface="Segoe UI"/>
              </a:rPr>
              <a:t>Général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14 cordons</a:t>
            </a:r>
          </a:p>
          <a:p>
            <a:pPr>
              <a:lnSpc>
                <a:spcPct val="118000"/>
              </a:lnSpc>
              <a:spcBef>
                <a:spcPts val="800"/>
              </a:spcBef>
              <a:buNone/>
            </a:pP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●  </a:t>
            </a:r>
            <a:r>
              <a:rPr lang="fr-FR" sz="1150" dirty="0">
                <a:solidFill>
                  <a:srgbClr val="F5F8FE"/>
                </a:solidFill>
                <a:latin typeface="Segoe UI"/>
                <a:cs typeface="Segoe UI"/>
              </a:rPr>
              <a:t>Général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2 cordons</a:t>
            </a:r>
          </a:p>
          <a:p>
            <a:pPr>
              <a:lnSpc>
                <a:spcPct val="118000"/>
              </a:lnSpc>
              <a:spcBef>
                <a:spcPts val="800"/>
              </a:spcBef>
              <a:buNone/>
            </a:pPr>
            <a:r>
              <a:rPr lang="fr-FR" sz="1100" dirty="0">
                <a:solidFill>
                  <a:srgbClr val="FBBF24"/>
                </a:solidFill>
                <a:latin typeface="Segoe UI"/>
                <a:cs typeface="Segoe UI"/>
              </a:rPr>
              <a:t>●  </a:t>
            </a:r>
            <a:r>
              <a:rPr lang="fr-FR" sz="1150" dirty="0">
                <a:solidFill>
                  <a:srgbClr val="F5F8FE"/>
                </a:solidFill>
                <a:latin typeface="Segoe UI"/>
                <a:cs typeface="Segoe UI"/>
              </a:rPr>
              <a:t>IDS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1 cordon</a:t>
            </a:r>
          </a:p>
          <a:p>
            <a:pPr>
              <a:lnSpc>
                <a:spcPct val="118000"/>
              </a:lnSpc>
              <a:spcBef>
                <a:spcPts val="800"/>
              </a:spcBef>
              <a:buNone/>
            </a:pPr>
            <a:r>
              <a:rPr lang="fr-FR" sz="1100" dirty="0">
                <a:solidFill>
                  <a:srgbClr val="F87171"/>
                </a:solidFill>
                <a:latin typeface="Segoe UI"/>
                <a:cs typeface="Segoe UI"/>
              </a:rPr>
              <a:t>●  </a:t>
            </a:r>
            <a:r>
              <a:rPr lang="fr-FR" sz="1150" dirty="0">
                <a:solidFill>
                  <a:srgbClr val="F5F8FE"/>
                </a:solidFill>
                <a:latin typeface="Segoe UI"/>
                <a:cs typeface="Segoe UI"/>
              </a:rPr>
              <a:t>CCTV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1 cordon</a:t>
            </a:r>
          </a:p>
          <a:p>
            <a:pPr>
              <a:lnSpc>
                <a:spcPct val="118000"/>
              </a:lnSpc>
              <a:spcBef>
                <a:spcPts val="800"/>
              </a:spcBef>
              <a:buNone/>
            </a:pP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●  </a:t>
            </a:r>
            <a:r>
              <a:rPr lang="fr-FR" sz="1150" dirty="0">
                <a:solidFill>
                  <a:srgbClr val="F5F8FE"/>
                </a:solidFill>
                <a:latin typeface="Segoe UI"/>
                <a:cs typeface="Segoe UI"/>
              </a:rPr>
              <a:t>Général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5 cordons</a:t>
            </a:r>
          </a:p>
          <a:p>
            <a:pPr>
              <a:lnSpc>
                <a:spcPct val="128000"/>
              </a:lnSpc>
              <a:spcBef>
                <a:spcPts val="1600"/>
              </a:spcBef>
              <a:buNone/>
            </a:pPr>
            <a:r>
              <a:rPr lang="fr-FR" sz="950" dirty="0">
                <a:solidFill>
                  <a:srgbClr val="6E80A0"/>
                </a:solidFill>
                <a:latin typeface="Segoe UI"/>
                <a:cs typeface="Segoe UI"/>
              </a:rPr>
              <a:t>Chaque domaine regroupe les cordons du chapitre correspondant du dossier LLD.</a:t>
            </a:r>
          </a:p>
        </p:txBody>
      </p:sp>
      <p:sp>
        <p:nvSpPr>
          <p:cNvPr id="10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11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6 / 14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0"/>
                            </p:stCondLst>
                            <p:childTnLst>
                              <p:par>
                                <p:cTn id="23" presetID="6" presetClass="entr" presetSubtype="16" fill="hold" grpId="0" nodeType="withEffect" dur="9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20"/>
                            </p:stCondLst>
                            <p:childTnLst>
                              <p:par>
                                <p:cTn id="27" presetID="2" presetClass="entr" presetSubtype="4" fill="hold" grpId="0" nodeType="withEffect" dur="6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IMPLANTATION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Plan d’ensemble des baies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/>
        </p:txBody>
      </p:sp>
      <p:sp>
        <p:nvSpPr>
          <p:cNvPr id="7" name="Cadre plan"/>
          <p:cNvSpPr/>
          <p:nvPr/>
        </p:nvSpPr>
        <p:spPr>
          <a:xfrm>
            <a:off x="609600" y="1485900"/>
            <a:ext cx="10972800" cy="4476750"/>
          </a:xfrm>
          <a:prstGeom prst="roundRect">
            <a:avLst>
              <a:gd name="adj" fmla="val 3000"/>
            </a:avLst>
          </a:prstGeom>
          <a:solidFill>
            <a:srgbClr val="0E1830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0" tIns="0" rIns="0" bIns="0" anchor="t"/>
          <a:lstStyle/>
          <a:p/>
        </p:txBody>
      </p:sp>
      <p:pic>
        <p:nvPicPr>
          <p:cNvPr id="8" name="Pla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0" y="1638300"/>
            <a:ext cx="6029325" cy="4171950"/>
          </a:xfrm>
          <a:prstGeom prst="rect">
            <a:avLst/>
          </a:prstGeom>
          <a:ln w="7144" cap="rnd">
            <a:solidFill>
              <a:srgbClr val="273851"/>
            </a:solidFill>
          </a:ln>
        </p:spPr>
      </p:pic>
      <p:sp>
        <p:nvSpPr>
          <p:cNvPr id="9" name="Légende plan"/>
          <p:cNvSpPr/>
          <p:nvPr/>
        </p:nvSpPr>
        <p:spPr>
          <a:xfrm>
            <a:off x="609600" y="6076950"/>
            <a:ext cx="10972800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100" b="1" dirty="0">
                <a:solidFill>
                  <a:srgbClr val="22D3EE"/>
                </a:solidFill>
                <a:latin typeface="Segoe UI"/>
                <a:cs typeface="Segoe UI"/>
              </a:rPr>
              <a:t>Vue Élévations  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— 3 baies, 41 équipements, 229 ports étiquetés · export haute définition du board.</a:t>
            </a:r>
          </a:p>
        </p:txBody>
      </p:sp>
      <p:sp>
        <p:nvSpPr>
          <p:cNvPr id="10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11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7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"/>
                            </p:stCondLst>
                            <p:childTnLst>
                              <p:par>
                                <p:cTn id="23" presetID="10" presetClass="entr" presetSubtype="0" fill="hold" grpId="0" nodeType="withEffect" dur="8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4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RÉFÉRENTIEL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Nomenclature &amp; adressage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/>
        </p:txBody>
      </p:sp>
      <p:graphicFrame>
        <p:nvGraphicFramePr>
          <p:cNvPr id="7" name="Registre VLANs"/>
          <p:cNvGraphicFramePr>
            <a:graphicFrameLocks noGrp="1"/>
          </p:cNvGraphicFramePr>
          <p:nvPr/>
        </p:nvGraphicFramePr>
        <p:xfrm>
          <a:off x="609600" y="1504950"/>
          <a:ext cx="6667500" cy="3810000"/>
        </p:xfrm>
        <a:graphic>
          <a:graphicData uri="http://schemas.openxmlformats.org/drawingml/2006/table">
            <a:tbl>
              <a:tblPr firstRow="1" bandRow="1"/>
              <a:tblGrid>
                <a:gridCol w="609600"/>
                <a:gridCol w="1238250"/>
                <a:gridCol w="1524000"/>
                <a:gridCol w="1428750"/>
                <a:gridCol w="1866900"/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VLAN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Nom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Subnet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Passerelle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Site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10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vMgmt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10.10.10.0/24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10.10.10.1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Siège — Casablanca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20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vServers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10.10.20.0/24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10.10.20.1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Siège — Casablanca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21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vBackup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10.10.21.0/24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10.10.21.1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Siège — Casablanca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30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vStorage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10.10.30.0/24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10.10.30.1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Siège — Casablanca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40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vUsers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10.10.40.0/24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10.10.40.1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Siège — Casablanca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99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vMgmtIPMI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10.10.99.0/24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10.10.99.1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Siège — Casablanca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11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vDMZ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10.10.11.0/24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10.10.11.1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Siège — Casablanca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31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vUPS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10.10.31.0/24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10.10.31.1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Siège — Casablanca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60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vGuests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10.10.60.0/24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10.10.60.1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Siège — Casablanca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</a:tr>
            </a:tbl>
          </a:graphicData>
        </a:graphic>
      </p:graphicFrame>
      <p:sp>
        <p:nvSpPr>
          <p:cNvPr id="8" name="Nomenclature"/>
          <p:cNvSpPr/>
          <p:nvPr/>
        </p:nvSpPr>
        <p:spPr>
          <a:xfrm>
            <a:off x="7620000" y="1504950"/>
            <a:ext cx="3962400" cy="4438650"/>
          </a:xfrm>
          <a:prstGeom prst="roundRect">
            <a:avLst>
              <a:gd name="adj" fmla="val 6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09550" tIns="209550" rIns="171450" bIns="152400" anchor="t"/>
          <a:lstStyle/>
          <a:p>
            <a:pPr>
              <a:buNone/>
            </a:pPr>
            <a:r>
              <a:rPr lang="fr-FR" sz="1000" b="1" spc="200" dirty="0">
                <a:solidFill>
                  <a:srgbClr val="22D3EE"/>
                </a:solidFill>
                <a:latin typeface="Segoe UI"/>
                <a:cs typeface="Segoe UI"/>
              </a:rPr>
              <a:t>RÈGLES DE NOMMAGE</a:t>
            </a:r>
          </a:p>
          <a:p>
            <a:pPr>
              <a:lnSpc>
                <a:spcPct val="118000"/>
              </a:lnSpc>
              <a:spcBef>
                <a:spcPts val="1200"/>
              </a:spcBef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FW- 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Pare-feu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·  NN sur 2 chiffres, un par site (FW-01 siège…</a:t>
            </a:r>
          </a:p>
          <a:p>
            <a:pPr>
              <a:lnSpc>
                <a:spcPct val="118000"/>
              </a:lnSpc>
              <a:spcBef>
                <a:spcPts val="1200"/>
              </a:spcBef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RTR- 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Routeur / SD-WAN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·  NN sur 2 chiffres, un par site.</a:t>
            </a:r>
          </a:p>
          <a:p>
            <a:pPr>
              <a:lnSpc>
                <a:spcPct val="118000"/>
              </a:lnSpc>
              <a:spcBef>
                <a:spcPts val="1200"/>
              </a:spcBef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NX- 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Nœud hyperconve…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·  NN sur 2 chiffres dans l’ordre du cluster.</a:t>
            </a:r>
          </a:p>
          <a:p>
            <a:pPr>
              <a:lnSpc>
                <a:spcPct val="118000"/>
              </a:lnSpc>
              <a:spcBef>
                <a:spcPts val="1200"/>
              </a:spcBef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SRV- 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Serveur physique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·  SRV-&lt;MARQUE&gt;-NN.</a:t>
            </a:r>
          </a:p>
          <a:p>
            <a:pPr>
              <a:lnSpc>
                <a:spcPct val="118000"/>
              </a:lnSpc>
              <a:spcBef>
                <a:spcPts val="1200"/>
              </a:spcBef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VM- 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Machine virtuel…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·  VM-&lt;APP&gt;-NN.</a:t>
            </a:r>
          </a:p>
          <a:p>
            <a:pPr>
              <a:lnSpc>
                <a:spcPct val="118000"/>
              </a:lnSpc>
              <a:spcBef>
                <a:spcPts val="1200"/>
              </a:spcBef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NAS- 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Stockage / NAS</a:t>
            </a:r>
            <a:r>
              <a:rPr lang="fr-FR" sz="1050" dirty="0">
                <a:solidFill>
                  <a:srgbClr val="6E80A0"/>
                </a:solidFill>
                <a:latin typeface="Segoe UI"/>
                <a:cs typeface="Segoe UI"/>
              </a:rPr>
              <a:t>  ·  NN sur 2 chiffres, un par site.</a:t>
            </a:r>
          </a:p>
        </p:txBody>
      </p:sp>
      <p:sp>
        <p:nvSpPr>
          <p:cNvPr id="9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10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8 / 14</a:t>
            </a:r>
          </a:p>
        </p:txBody>
      </p: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 dur="8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"/>
                            </p:stCondLst>
                            <p:childTnLst>
                              <p:par>
                                <p:cTn id="23" presetID="2" presetClass="entr" presetSubtype="4" fill="hold" grpId="0" nodeType="withEffect" dur="6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ÉCHANGES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Flux &amp; services critiques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/>
        </p:txBody>
      </p:sp>
      <p:graphicFrame>
        <p:nvGraphicFramePr>
          <p:cNvPr id="7" name="Matrice de flux"/>
          <p:cNvGraphicFramePr>
            <a:graphicFrameLocks noGrp="1"/>
          </p:cNvGraphicFramePr>
          <p:nvPr/>
        </p:nvGraphicFramePr>
        <p:xfrm>
          <a:off x="609600" y="1504950"/>
          <a:ext cx="10972800" cy="2667000"/>
        </p:xfrm>
        <a:graphic>
          <a:graphicData uri="http://schemas.openxmlformats.org/drawingml/2006/table">
            <a:tbl>
              <a:tblPr firstRow="1" bandRow="1"/>
              <a:tblGrid>
                <a:gridCol w="2381250"/>
                <a:gridCol w="2552700"/>
                <a:gridCol w="2857500"/>
                <a:gridCol w="1905000"/>
                <a:gridCol w="1276350"/>
              </a:tblGrid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Flux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Source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Destination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Protocole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Sens</a:t>
                      </a:r>
                    </a:p>
                  </a:txBody>
                  <a:tcPr marL="95250" marR="95250" marT="38100" marB="38100" anchor="ctr">
                    <a:lnB w="19050" cap="flat">
                      <a:solidFill>
                        <a:srgbClr val="3B82F6"/>
                      </a:solidFill>
                    </a:lnB>
                    <a:solidFill>
                      <a:srgbClr val="1A2B4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Accès Internet sortant (NAT)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LAN Siège (10.10.0.0/16)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Internet via Maroc Telecom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TCP/UDP — tous ports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dirty="0">
                          <a:solidFill>
                            <a:srgbClr val="34D399"/>
                          </a:solidFill>
                          <a:latin typeface="Segoe UI"/>
                          <a:cs typeface="Segoe UI"/>
                        </a:rPr>
                        <a:t>⇄ bilatéral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Publication DMZ (HTTPS)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Internet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SRV-DELL-01 (10.10.20.11 — VLAN 20)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TCP 443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dirty="0">
                          <a:solidFill>
                            <a:srgbClr val="FBBF24"/>
                          </a:solidFill>
                          <a:latin typeface="Segoe UI"/>
                          <a:cs typeface="Segoe UI"/>
                        </a:rPr>
                        <a:t>→ unilatéral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Réplication NAS inter-sites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NAS-01 (10.10.30.12)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NAS-02 (10.11.30.12)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TCP 5665 (rsync/SSH)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dirty="0">
                          <a:solidFill>
                            <a:srgbClr val="FBBF24"/>
                          </a:solidFill>
                          <a:latin typeface="Segoe UI"/>
                          <a:cs typeface="Segoe UI"/>
                        </a:rPr>
                        <a:t>→ unilatéral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Sauvegarde Veeam → NAS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NX-01..03 (VM Veeam)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NAS-01 (10.10.30.12)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TCP 2500-5000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dirty="0">
                          <a:solidFill>
                            <a:srgbClr val="FBBF24"/>
                          </a:solidFill>
                          <a:latin typeface="Segoe UI"/>
                          <a:cs typeface="Segoe UI"/>
                        </a:rPr>
                        <a:t>→ unilatéral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Administration &amp; supervision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Poste admin (VLAN 40)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Équipements mgmt (VLAN 99)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TCP 443/22 · SNMP v2c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dirty="0">
                          <a:solidFill>
                            <a:srgbClr val="34D399"/>
                          </a:solidFill>
                          <a:latin typeface="Segoe UI"/>
                          <a:cs typeface="Segoe UI"/>
                        </a:rPr>
                        <a:t>⇄ bilatéral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0E183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b="1" dirty="0">
                          <a:solidFill>
                            <a:srgbClr val="F5F8FE"/>
                          </a:solidFill>
                          <a:latin typeface="Segoe UI"/>
                          <a:cs typeface="Segoe UI"/>
                        </a:rPr>
                        <a:t>Tunnel SD-WAN inter-sites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RTR-01 (Siège)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A3B2CC"/>
                          </a:solidFill>
                          <a:latin typeface="Segoe UI"/>
                          <a:cs typeface="Segoe UI"/>
                        </a:rPr>
                        <a:t>RTR-02 (Agence Rabat)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50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UDP 4500 — SpeedFusion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50" dirty="0">
                          <a:solidFill>
                            <a:srgbClr val="34D399"/>
                          </a:solidFill>
                          <a:latin typeface="Segoe UI"/>
                          <a:cs typeface="Segoe UI"/>
                        </a:rPr>
                        <a:t>⇄ bilatéral</a:t>
                      </a:r>
                    </a:p>
                  </a:txBody>
                  <a:tcPr marL="95250" marR="95250" marT="38100" marB="38100" anchor="ctr">
                    <a:lnB w="9525" cap="flat">
                      <a:solidFill>
                        <a:srgbClr val="273851"/>
                      </a:solidFill>
                    </a:lnB>
                    <a:solidFill>
                      <a:srgbClr val="121F3B"/>
                    </a:solidFill>
                  </a:tcPr>
                </a:tc>
              </a:tr>
            </a:tbl>
          </a:graphicData>
        </a:graphic>
      </p:graphicFrame>
      <p:sp>
        <p:nvSpPr>
          <p:cNvPr id="8" name="Note flux"/>
          <p:cNvSpPr/>
          <p:nvPr/>
        </p:nvSpPr>
        <p:spPr>
          <a:xfrm>
            <a:off x="609600" y="60960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100" b="1" dirty="0">
                <a:solidFill>
                  <a:srgbClr val="F5F8FE"/>
                </a:solidFill>
                <a:latin typeface="Segoe UI"/>
                <a:cs typeface="Segoe UI"/>
              </a:rPr>
              <a:t>6 flux déclarés</a:t>
            </a:r>
            <a:r>
              <a:rPr lang="fr-FR" sz="1100" dirty="0">
                <a:solidFill>
                  <a:srgbClr val="A3B2CC"/>
                </a:solidFill>
                <a:latin typeface="Segoe UI"/>
                <a:cs typeface="Segoe UI"/>
              </a:rPr>
              <a:t>  ·  la matrice complète, avec usage détaillé, figure au chapitre « Flux réseau » du dossier LLD.</a:t>
            </a:r>
          </a:p>
        </p:txBody>
      </p:sp>
      <p:sp>
        <p:nvSpPr>
          <p:cNvPr id="9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10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9 / 14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 dur="7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"/>
                            </p:stCondLst>
                            <p:childTnLst>
                              <p:par>
                                <p:cTn id="23" presetID="2" presetClass="entr" presetSubtype="4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CAPACITÉ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Capacité &amp; puissance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/>
        </p:txBody>
      </p:sp>
      <p:sp>
        <p:nvSpPr>
          <p:cNvPr id="7" name="Cap 1"/>
          <p:cNvSpPr/>
          <p:nvPr/>
        </p:nvSpPr>
        <p:spPr>
          <a:xfrm>
            <a:off x="609600" y="158115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300" dirty="0">
                <a:solidFill>
                  <a:srgbClr val="60A5FA"/>
                </a:solidFill>
                <a:latin typeface="Segoe UI"/>
                <a:cs typeface="Segoe UI"/>
              </a:rPr>
              <a:t>● </a:t>
            </a: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RACK FAI — Accès opérateurs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·  Datacenter Siège — Casablanca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·  5/12U</a:t>
            </a:r>
          </a:p>
        </p:txBody>
      </p:sp>
      <p:sp>
        <p:nvSpPr>
          <p:cNvPr id="8" name="Piste cap 1"/>
          <p:cNvSpPr/>
          <p:nvPr/>
        </p:nvSpPr>
        <p:spPr>
          <a:xfrm>
            <a:off x="609600" y="1924050"/>
            <a:ext cx="7239000" cy="17145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7144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/>
        </p:txBody>
      </p:sp>
      <p:sp>
        <p:nvSpPr>
          <p:cNvPr id="9" name="Jauge cap 1"/>
          <p:cNvSpPr/>
          <p:nvPr/>
        </p:nvSpPr>
        <p:spPr>
          <a:xfrm>
            <a:off x="609600" y="1924050"/>
            <a:ext cx="3019425" cy="1714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0A5FA">
                  <a:alpha val="75000"/>
                </a:srgbClr>
              </a:gs>
              <a:gs pos="100000">
                <a:srgbClr val="60A5FA"/>
              </a:gs>
            </a:gsLst>
            <a:lin ang="0" scaled="1"/>
          </a:gradFill>
        </p:spPr>
        <p:txBody>
          <a:bodyPr wrap="square" lIns="0" tIns="0" rIns="0" bIns="0" anchor="t"/>
          <a:lstStyle/>
          <a:p/>
        </p:txBody>
      </p:sp>
      <p:sp>
        <p:nvSpPr>
          <p:cNvPr id="10" name="Pct cap 1"/>
          <p:cNvSpPr/>
          <p:nvPr/>
        </p:nvSpPr>
        <p:spPr>
          <a:xfrm>
            <a:off x="7867650" y="1866900"/>
            <a:ext cx="9906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1700" b="1" dirty="0">
                <a:solidFill>
                  <a:srgbClr val="F5F8FE"/>
                </a:solidFill>
                <a:latin typeface="Segoe UI"/>
                <a:cs typeface="Segoe UI"/>
              </a:rPr>
              <a:t>42 %</a:t>
            </a:r>
          </a:p>
        </p:txBody>
      </p:sp>
      <p:sp>
        <p:nvSpPr>
          <p:cNvPr id="11" name="Meta cap 1"/>
          <p:cNvSpPr/>
          <p:nvPr/>
        </p:nvSpPr>
        <p:spPr>
          <a:xfrm>
            <a:off x="9086850" y="1676400"/>
            <a:ext cx="2495550" cy="552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100" dirty="0">
                <a:solidFill>
                  <a:srgbClr val="F5F8FE"/>
                </a:solidFill>
                <a:latin typeface="Segoe UI"/>
                <a:cs typeface="Segoe UI"/>
              </a:rPr>
              <a:t>⚡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75 W / 2000 W</a:t>
            </a:r>
          </a:p>
          <a:p>
            <a:pPr>
              <a:spcBef>
                <a:spcPts val="400"/>
              </a:spcBef>
              <a:buNone/>
            </a:pPr>
            <a:r>
              <a:rPr lang="fr-FR" sz="1100" dirty="0">
                <a:solidFill>
                  <a:srgbClr val="F5F8FE"/>
                </a:solidFill>
                <a:latin typeface="Segoe UI"/>
                <a:cs typeface="Segoe UI"/>
              </a:rPr>
              <a:t>⚖️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6 kg / 80 kg</a:t>
            </a:r>
          </a:p>
        </p:txBody>
      </p:sp>
      <p:sp>
        <p:nvSpPr>
          <p:cNvPr id="12" name="Cap 2"/>
          <p:cNvSpPr/>
          <p:nvPr/>
        </p:nvSpPr>
        <p:spPr>
          <a:xfrm>
            <a:off x="609600" y="276225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300" dirty="0">
                <a:solidFill>
                  <a:srgbClr val="60A5FA"/>
                </a:solidFill>
                <a:latin typeface="Segoe UI"/>
                <a:cs typeface="Segoe UI"/>
              </a:rPr>
              <a:t>● </a:t>
            </a: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RACK-A — Siège Casablanca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·  Datacenter Siège — Casablanca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·  24/24U</a:t>
            </a:r>
          </a:p>
        </p:txBody>
      </p:sp>
      <p:sp>
        <p:nvSpPr>
          <p:cNvPr id="13" name="Piste cap 2"/>
          <p:cNvSpPr/>
          <p:nvPr/>
        </p:nvSpPr>
        <p:spPr>
          <a:xfrm>
            <a:off x="609600" y="3105150"/>
            <a:ext cx="7239000" cy="17145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7144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/>
        </p:txBody>
      </p:sp>
      <p:sp>
        <p:nvSpPr>
          <p:cNvPr id="14" name="Jauge cap 2"/>
          <p:cNvSpPr/>
          <p:nvPr/>
        </p:nvSpPr>
        <p:spPr>
          <a:xfrm>
            <a:off x="609600" y="3105150"/>
            <a:ext cx="7239000" cy="1714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0A5FA">
                  <a:alpha val="75000"/>
                </a:srgbClr>
              </a:gs>
              <a:gs pos="100000">
                <a:srgbClr val="60A5FA"/>
              </a:gs>
            </a:gsLst>
            <a:lin ang="0" scaled="1"/>
          </a:gradFill>
        </p:spPr>
        <p:txBody>
          <a:bodyPr wrap="square" lIns="0" tIns="0" rIns="0" bIns="0" anchor="t"/>
          <a:lstStyle/>
          <a:p/>
        </p:txBody>
      </p:sp>
      <p:sp>
        <p:nvSpPr>
          <p:cNvPr id="15" name="Pct cap 2"/>
          <p:cNvSpPr/>
          <p:nvPr/>
        </p:nvSpPr>
        <p:spPr>
          <a:xfrm>
            <a:off x="7867650" y="3048000"/>
            <a:ext cx="9906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1700" b="1" dirty="0">
                <a:solidFill>
                  <a:srgbClr val="F5F8FE"/>
                </a:solidFill>
                <a:latin typeface="Segoe UI"/>
                <a:cs typeface="Segoe UI"/>
              </a:rPr>
              <a:t>100 %</a:t>
            </a:r>
          </a:p>
        </p:txBody>
      </p:sp>
      <p:sp>
        <p:nvSpPr>
          <p:cNvPr id="16" name="Meta cap 2"/>
          <p:cNvSpPr/>
          <p:nvPr/>
        </p:nvSpPr>
        <p:spPr>
          <a:xfrm>
            <a:off x="9086850" y="2857500"/>
            <a:ext cx="2495550" cy="552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100" dirty="0">
                <a:solidFill>
                  <a:srgbClr val="F5F8FE"/>
                </a:solidFill>
                <a:latin typeface="Segoe UI"/>
                <a:cs typeface="Segoe UI"/>
              </a:rPr>
              <a:t>⚡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3655 W / 5000 W</a:t>
            </a:r>
          </a:p>
          <a:p>
            <a:pPr>
              <a:spcBef>
                <a:spcPts val="400"/>
              </a:spcBef>
              <a:buNone/>
            </a:pPr>
            <a:r>
              <a:rPr lang="fr-FR" sz="1100" dirty="0">
                <a:solidFill>
                  <a:srgbClr val="F5F8FE"/>
                </a:solidFill>
                <a:latin typeface="Segoe UI"/>
                <a:cs typeface="Segoe UI"/>
              </a:rPr>
              <a:t>⚖️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162.8 kg / 300 kg</a:t>
            </a:r>
          </a:p>
        </p:txBody>
      </p:sp>
      <p:sp>
        <p:nvSpPr>
          <p:cNvPr id="17" name="Cap 3"/>
          <p:cNvSpPr/>
          <p:nvPr/>
        </p:nvSpPr>
        <p:spPr>
          <a:xfrm>
            <a:off x="609600" y="394335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300" dirty="0">
                <a:solidFill>
                  <a:srgbClr val="34D399"/>
                </a:solidFill>
                <a:latin typeface="Segoe UI"/>
                <a:cs typeface="Segoe UI"/>
              </a:rPr>
              <a:t>● </a:t>
            </a: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RACK-B — Agence Rabat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·  Agence Rabat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·  15/18U</a:t>
            </a:r>
          </a:p>
        </p:txBody>
      </p:sp>
      <p:sp>
        <p:nvSpPr>
          <p:cNvPr id="18" name="Piste cap 3"/>
          <p:cNvSpPr/>
          <p:nvPr/>
        </p:nvSpPr>
        <p:spPr>
          <a:xfrm>
            <a:off x="609600" y="4286250"/>
            <a:ext cx="7239000" cy="17145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7144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/>
        </p:txBody>
      </p:sp>
      <p:sp>
        <p:nvSpPr>
          <p:cNvPr id="19" name="Jauge cap 3"/>
          <p:cNvSpPr/>
          <p:nvPr/>
        </p:nvSpPr>
        <p:spPr>
          <a:xfrm>
            <a:off x="609600" y="4286250"/>
            <a:ext cx="6029325" cy="1714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4D399">
                  <a:alpha val="75000"/>
                </a:srgbClr>
              </a:gs>
              <a:gs pos="100000">
                <a:srgbClr val="34D399"/>
              </a:gs>
            </a:gsLst>
            <a:lin ang="0" scaled="1"/>
          </a:gradFill>
        </p:spPr>
        <p:txBody>
          <a:bodyPr wrap="square" lIns="0" tIns="0" rIns="0" bIns="0" anchor="t"/>
          <a:lstStyle/>
          <a:p/>
        </p:txBody>
      </p:sp>
      <p:sp>
        <p:nvSpPr>
          <p:cNvPr id="20" name="Pct cap 3"/>
          <p:cNvSpPr/>
          <p:nvPr/>
        </p:nvSpPr>
        <p:spPr>
          <a:xfrm>
            <a:off x="7867650" y="4229100"/>
            <a:ext cx="9906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1700" b="1" dirty="0">
                <a:solidFill>
                  <a:srgbClr val="F5F8FE"/>
                </a:solidFill>
                <a:latin typeface="Segoe UI"/>
                <a:cs typeface="Segoe UI"/>
              </a:rPr>
              <a:t>83 %</a:t>
            </a:r>
          </a:p>
        </p:txBody>
      </p:sp>
      <p:sp>
        <p:nvSpPr>
          <p:cNvPr id="21" name="Meta cap 3"/>
          <p:cNvSpPr/>
          <p:nvPr/>
        </p:nvSpPr>
        <p:spPr>
          <a:xfrm>
            <a:off x="9086850" y="4038600"/>
            <a:ext cx="2495550" cy="552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100" dirty="0">
                <a:solidFill>
                  <a:srgbClr val="F5F8FE"/>
                </a:solidFill>
                <a:latin typeface="Segoe UI"/>
                <a:cs typeface="Segoe UI"/>
              </a:rPr>
              <a:t>⚡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950 W / 3000 W</a:t>
            </a:r>
          </a:p>
          <a:p>
            <a:pPr>
              <a:spcBef>
                <a:spcPts val="400"/>
              </a:spcBef>
              <a:buNone/>
            </a:pPr>
            <a:r>
              <a:rPr lang="fr-FR" sz="1100" dirty="0">
                <a:solidFill>
                  <a:srgbClr val="F5F8FE"/>
                </a:solidFill>
                <a:latin typeface="Segoe UI"/>
                <a:cs typeface="Segoe UI"/>
              </a:rPr>
              <a:t>⚖️ 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98.9 kg / 200 kg</a:t>
            </a:r>
          </a:p>
        </p:txBody>
      </p:sp>
      <p:sp>
        <p:nvSpPr>
          <p:cNvPr id="22" name="Synthèse capacité"/>
          <p:cNvSpPr/>
          <p:nvPr/>
        </p:nvSpPr>
        <p:spPr>
          <a:xfrm>
            <a:off x="609600" y="5200650"/>
            <a:ext cx="10972800" cy="495300"/>
          </a:xfrm>
          <a:prstGeom prst="roundRect">
            <a:avLst>
              <a:gd name="adj" fmla="val 16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fr-FR" sz="1050" b="1" spc="160" dirty="0">
                <a:solidFill>
                  <a:srgbClr val="22D3EE"/>
                </a:solidFill>
                <a:latin typeface="Segoe UI"/>
                <a:cs typeface="Segoe UI"/>
              </a:rPr>
              <a:t>SYNTHÈSE   </a:t>
            </a:r>
            <a:r>
              <a:rPr lang="fr-FR" sz="1350" b="1" dirty="0">
                <a:solidFill>
                  <a:srgbClr val="F5F8FE"/>
                </a:solidFill>
                <a:latin typeface="Segoe UI"/>
                <a:cs typeface="Segoe UI"/>
              </a:rPr>
              <a:t>4680 W équipés</a:t>
            </a:r>
            <a:r>
              <a:rPr lang="fr-FR" sz="1250" dirty="0">
                <a:solidFill>
                  <a:srgbClr val="A3B2CC"/>
                </a:solidFill>
                <a:latin typeface="Segoe UI"/>
                <a:cs typeface="Segoe UI"/>
              </a:rPr>
              <a:t> / 10000 W dimensionnés</a:t>
            </a:r>
            <a:r>
              <a:rPr lang="fr-FR" sz="1250" dirty="0">
                <a:solidFill>
                  <a:srgbClr val="6E80A0"/>
                </a:solidFill>
                <a:latin typeface="Segoe UI"/>
                <a:cs typeface="Segoe UI"/>
              </a:rPr>
              <a:t>   ·   </a:t>
            </a:r>
            <a:r>
              <a:rPr lang="fr-FR" sz="1300" dirty="0">
                <a:solidFill>
                  <a:srgbClr val="F5F8FE"/>
                </a:solidFill>
                <a:latin typeface="Segoe UI"/>
                <a:cs typeface="Segoe UI"/>
              </a:rPr>
              <a:t>occupation moyenne 75 %</a:t>
            </a:r>
            <a:r>
              <a:rPr lang="fr-FR" sz="1250" dirty="0">
                <a:solidFill>
                  <a:srgbClr val="6E80A0"/>
                </a:solidFill>
                <a:latin typeface="Segoe UI"/>
                <a:cs typeface="Segoe UI"/>
              </a:rPr>
              <a:t>   ·   </a:t>
            </a:r>
            <a:r>
              <a:rPr lang="fr-FR" sz="1300" dirty="0">
                <a:solidFill>
                  <a:srgbClr val="F5F8FE"/>
                </a:solidFill>
                <a:latin typeface="Segoe UI"/>
                <a:cs typeface="Segoe UI"/>
              </a:rPr>
              <a:t>3 baies suivies</a:t>
            </a:r>
          </a:p>
        </p:txBody>
      </p:sp>
      <p:sp>
        <p:nvSpPr>
          <p:cNvPr id="23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24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10 / 14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 dur="5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40"/>
                            </p:stCondLst>
                            <p:childTnLst>
                              <p:par>
                                <p:cTn id="28" presetID="22" presetClass="entr" presetSubtype="2" fill="hold" grpId="0" nodeType="withEffect" dur="8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8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20"/>
                            </p:stCondLst>
                            <p:childTnLst>
                              <p:par>
                                <p:cTn id="32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20"/>
                            </p:stCondLst>
                            <p:childTnLst>
                              <p:par>
                                <p:cTn id="36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30"/>
                            </p:stCondLst>
                            <p:childTnLst>
                              <p:par>
                                <p:cTn id="40" presetID="2" presetClass="entr" presetSubtype="4" fill="hold" grpId="0" nodeType="withEffect" dur="5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30"/>
                            </p:stCondLst>
                            <p:childTnLst>
                              <p:par>
                                <p:cTn id="45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0"/>
                            </p:stCondLst>
                            <p:childTnLst>
                              <p:par>
                                <p:cTn id="49" presetID="22" presetClass="entr" presetSubtype="2" fill="hold" grpId="0" nodeType="withEffect" dur="8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8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"/>
                            </p:stCondLst>
                            <p:childTnLst>
                              <p:par>
                                <p:cTn id="53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"/>
                            </p:stCondLst>
                            <p:childTnLst>
                              <p:par>
                                <p:cTn id="57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60"/>
                            </p:stCondLst>
                            <p:childTnLst>
                              <p:par>
                                <p:cTn id="61" presetID="2" presetClass="entr" presetSubtype="4" fill="hold" grpId="0" nodeType="withEffect" dur="5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60"/>
                            </p:stCondLst>
                            <p:childTnLst>
                              <p:par>
                                <p:cTn id="66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00"/>
                            </p:stCondLst>
                            <p:childTnLst>
                              <p:par>
                                <p:cTn id="70" presetID="22" presetClass="entr" presetSubtype="2" fill="hold" grpId="0" nodeType="withEffect" dur="8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8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80"/>
                            </p:stCondLst>
                            <p:childTnLst>
                              <p:par>
                                <p:cTn id="74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80"/>
                            </p:stCondLst>
                            <p:childTnLst>
                              <p:par>
                                <p:cTn id="78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860"/>
                            </p:stCondLst>
                            <p:childTnLst>
                              <p:par>
                                <p:cTn id="82" presetID="2" presetClass="entr" presetSubtype="4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MAINTENANCE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Garanties &amp; maintenance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/>
        </p:txBody>
      </p:sp>
      <p:sp>
        <p:nvSpPr>
          <p:cNvPr id="7" name="Seg 1"/>
          <p:cNvSpPr/>
          <p:nvPr/>
        </p:nvSpPr>
        <p:spPr>
          <a:xfrm>
            <a:off x="609600" y="1657350"/>
            <a:ext cx="10220325" cy="209550"/>
          </a:xfrm>
          <a:prstGeom prst="roundRect">
            <a:avLst>
              <a:gd name="adj" fmla="val 50000"/>
            </a:avLst>
          </a:prstGeom>
          <a:solidFill>
            <a:srgbClr val="34D399"/>
          </a:solidFill>
        </p:spPr>
        <p:txBody>
          <a:bodyPr wrap="square" lIns="0" tIns="0" rIns="0" bIns="0" anchor="t"/>
          <a:lstStyle/>
          <a:p/>
        </p:txBody>
      </p:sp>
      <p:sp>
        <p:nvSpPr>
          <p:cNvPr id="8" name="Seg 2"/>
          <p:cNvSpPr/>
          <p:nvPr/>
        </p:nvSpPr>
        <p:spPr>
          <a:xfrm>
            <a:off x="10906125" y="1657350"/>
            <a:ext cx="600075" cy="209550"/>
          </a:xfrm>
          <a:prstGeom prst="roundRect">
            <a:avLst>
              <a:gd name="adj" fmla="val 50000"/>
            </a:avLst>
          </a:prstGeom>
          <a:solidFill>
            <a:srgbClr val="FBBF24"/>
          </a:solidFill>
        </p:spPr>
        <p:txBody>
          <a:bodyPr wrap="square" lIns="0" tIns="0" rIns="0" bIns="0" anchor="t"/>
          <a:lstStyle/>
          <a:p/>
        </p:txBody>
      </p:sp>
      <p:sp>
        <p:nvSpPr>
          <p:cNvPr id="9" name="Seg 3"/>
          <p:cNvSpPr/>
          <p:nvPr/>
        </p:nvSpPr>
        <p:spPr>
          <a:xfrm>
            <a:off x="11582400" y="1657350"/>
            <a:ext cx="600075" cy="209550"/>
          </a:xfrm>
          <a:prstGeom prst="roundRect">
            <a:avLst>
              <a:gd name="adj" fmla="val 50000"/>
            </a:avLst>
          </a:prstGeom>
          <a:solidFill>
            <a:srgbClr val="F87171"/>
          </a:solidFill>
        </p:spPr>
        <p:txBody>
          <a:bodyPr wrap="square" lIns="0" tIns="0" rIns="0" bIns="0" anchor="t"/>
          <a:lstStyle/>
          <a:p/>
        </p:txBody>
      </p:sp>
      <p:sp>
        <p:nvSpPr>
          <p:cNvPr id="10" name="Légende garanties"/>
          <p:cNvSpPr/>
          <p:nvPr/>
        </p:nvSpPr>
        <p:spPr>
          <a:xfrm>
            <a:off x="609600" y="1981200"/>
            <a:ext cx="10972800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300" dirty="0">
                <a:solidFill>
                  <a:srgbClr val="34D399"/>
                </a:solidFill>
                <a:latin typeface="Segoe UI"/>
                <a:cs typeface="Segoe UI"/>
              </a:rPr>
              <a:t>● </a:t>
            </a:r>
            <a:r>
              <a:rPr lang="fr-FR" sz="1200" b="1" spc="40" dirty="0">
                <a:solidFill>
                  <a:srgbClr val="A3B2CC"/>
                </a:solidFill>
                <a:latin typeface="Segoe UI"/>
                <a:cs typeface="Segoe UI"/>
              </a:rPr>
              <a:t>34 en garantie    </a:t>
            </a:r>
            <a:r>
              <a:rPr lang="fr-FR" sz="1300" dirty="0">
                <a:solidFill>
                  <a:srgbClr val="FBBF24"/>
                </a:solidFill>
                <a:latin typeface="Segoe UI"/>
                <a:cs typeface="Segoe UI"/>
              </a:rPr>
              <a:t>● </a:t>
            </a:r>
            <a:r>
              <a:rPr lang="fr-FR" sz="1200" b="1" spc="40" dirty="0">
                <a:solidFill>
                  <a:srgbClr val="A3B2CC"/>
                </a:solidFill>
                <a:latin typeface="Segoe UI"/>
                <a:cs typeface="Segoe UI"/>
              </a:rPr>
              <a:t>2 expirent &lt; 90 j    </a:t>
            </a:r>
            <a:r>
              <a:rPr lang="fr-FR" sz="1300" dirty="0">
                <a:solidFill>
                  <a:srgbClr val="F87171"/>
                </a:solidFill>
                <a:latin typeface="Segoe UI"/>
                <a:cs typeface="Segoe UI"/>
              </a:rPr>
              <a:t>● </a:t>
            </a:r>
            <a:r>
              <a:rPr lang="fr-FR" sz="1200" b="1" spc="40" dirty="0">
                <a:solidFill>
                  <a:srgbClr val="A3B2CC"/>
                </a:solidFill>
                <a:latin typeface="Segoe UI"/>
                <a:cs typeface="Segoe UI"/>
              </a:rPr>
              <a:t>2 hors garantie    </a:t>
            </a:r>
          </a:p>
        </p:txBody>
      </p:sp>
      <p:sp>
        <p:nvSpPr>
          <p:cNvPr id="11" name="Titre échéances"/>
          <p:cNvSpPr/>
          <p:nvPr/>
        </p:nvSpPr>
        <p:spPr>
          <a:xfrm>
            <a:off x="609600" y="27432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00" b="1" spc="200" dirty="0">
                <a:solidFill>
                  <a:srgbClr val="22D3EE"/>
                </a:solidFill>
                <a:latin typeface="Segoe UI"/>
                <a:cs typeface="Segoe UI"/>
              </a:rPr>
              <a:t>ÉCHÉANCES À SURVEILLER</a:t>
            </a:r>
          </a:p>
        </p:txBody>
      </p:sp>
      <p:sp>
        <p:nvSpPr>
          <p:cNvPr id="12" name="Échéance 1"/>
          <p:cNvSpPr/>
          <p:nvPr/>
        </p:nvSpPr>
        <p:spPr>
          <a:xfrm>
            <a:off x="609600" y="3105150"/>
            <a:ext cx="10972800" cy="49530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/>
        </p:txBody>
      </p:sp>
      <p:sp>
        <p:nvSpPr>
          <p:cNvPr id="13" name="Échéance nom 1"/>
          <p:cNvSpPr/>
          <p:nvPr/>
        </p:nvSpPr>
        <p:spPr>
          <a:xfrm>
            <a:off x="819150" y="3105150"/>
            <a:ext cx="66675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SRV-DELL-01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  ·  RACK-A — Siège Casablanca</a:t>
            </a:r>
          </a:p>
        </p:txBody>
      </p:sp>
      <p:sp>
        <p:nvSpPr>
          <p:cNvPr id="14" name="Échéance date 1"/>
          <p:cNvSpPr/>
          <p:nvPr/>
        </p:nvSpPr>
        <p:spPr>
          <a:xfrm>
            <a:off x="7524750" y="3105150"/>
            <a:ext cx="22860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250" dirty="0">
                <a:solidFill>
                  <a:srgbClr val="A3B2CC"/>
                </a:solidFill>
                <a:latin typeface="Segoe UI"/>
                <a:cs typeface="Segoe UI"/>
              </a:rPr>
              <a:t>31/07/2026</a:t>
            </a:r>
          </a:p>
        </p:txBody>
      </p:sp>
      <p:sp>
        <p:nvSpPr>
          <p:cNvPr id="15" name="Échéance statut 1"/>
          <p:cNvSpPr/>
          <p:nvPr/>
        </p:nvSpPr>
        <p:spPr>
          <a:xfrm>
            <a:off x="9906000" y="3105150"/>
            <a:ext cx="150495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150" b="1" dirty="0">
                <a:solidFill>
                  <a:srgbClr val="F87171"/>
                </a:solidFill>
                <a:latin typeface="Segoe UI"/>
                <a:cs typeface="Segoe UI"/>
              </a:rPr>
              <a:t>⛔ hors garantie</a:t>
            </a:r>
          </a:p>
        </p:txBody>
      </p:sp>
      <p:sp>
        <p:nvSpPr>
          <p:cNvPr id="16" name="Échéance 2"/>
          <p:cNvSpPr/>
          <p:nvPr/>
        </p:nvSpPr>
        <p:spPr>
          <a:xfrm>
            <a:off x="609600" y="3714750"/>
            <a:ext cx="10972800" cy="49530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/>
        </p:txBody>
      </p:sp>
      <p:sp>
        <p:nvSpPr>
          <p:cNvPr id="17" name="Échéance nom 2"/>
          <p:cNvSpPr/>
          <p:nvPr/>
        </p:nvSpPr>
        <p:spPr>
          <a:xfrm>
            <a:off x="819150" y="3714750"/>
            <a:ext cx="66675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AKCP-02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  ·  RACK-B — Agence Rabat</a:t>
            </a:r>
          </a:p>
        </p:txBody>
      </p:sp>
      <p:sp>
        <p:nvSpPr>
          <p:cNvPr id="18" name="Échéance date 2"/>
          <p:cNvSpPr/>
          <p:nvPr/>
        </p:nvSpPr>
        <p:spPr>
          <a:xfrm>
            <a:off x="7524750" y="3714750"/>
            <a:ext cx="22860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250" dirty="0">
                <a:solidFill>
                  <a:srgbClr val="A3B2CC"/>
                </a:solidFill>
                <a:latin typeface="Segoe UI"/>
                <a:cs typeface="Segoe UI"/>
              </a:rPr>
              <a:t>31/08/2026</a:t>
            </a:r>
          </a:p>
        </p:txBody>
      </p:sp>
      <p:sp>
        <p:nvSpPr>
          <p:cNvPr id="19" name="Échéance statut 2"/>
          <p:cNvSpPr/>
          <p:nvPr/>
        </p:nvSpPr>
        <p:spPr>
          <a:xfrm>
            <a:off x="9906000" y="3714750"/>
            <a:ext cx="150495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150" b="1" dirty="0">
                <a:solidFill>
                  <a:srgbClr val="F87171"/>
                </a:solidFill>
                <a:latin typeface="Segoe UI"/>
                <a:cs typeface="Segoe UI"/>
              </a:rPr>
              <a:t>⛔ hors garantie</a:t>
            </a:r>
          </a:p>
        </p:txBody>
      </p:sp>
      <p:sp>
        <p:nvSpPr>
          <p:cNvPr id="20" name="Échéance 3"/>
          <p:cNvSpPr/>
          <p:nvPr/>
        </p:nvSpPr>
        <p:spPr>
          <a:xfrm>
            <a:off x="609600" y="4324350"/>
            <a:ext cx="10972800" cy="49530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/>
        </p:txBody>
      </p:sp>
      <p:sp>
        <p:nvSpPr>
          <p:cNvPr id="21" name="Échéance nom 3"/>
          <p:cNvSpPr/>
          <p:nvPr/>
        </p:nvSpPr>
        <p:spPr>
          <a:xfrm>
            <a:off x="819150" y="4324350"/>
            <a:ext cx="66675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FW-01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  ·  RACK-A — Siège Casablanca</a:t>
            </a:r>
          </a:p>
        </p:txBody>
      </p:sp>
      <p:sp>
        <p:nvSpPr>
          <p:cNvPr id="22" name="Échéance date 3"/>
          <p:cNvSpPr/>
          <p:nvPr/>
        </p:nvSpPr>
        <p:spPr>
          <a:xfrm>
            <a:off x="7524750" y="4324350"/>
            <a:ext cx="22860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250" dirty="0">
                <a:solidFill>
                  <a:srgbClr val="A3B2CC"/>
                </a:solidFill>
                <a:latin typeface="Segoe UI"/>
                <a:cs typeface="Segoe UI"/>
              </a:rPr>
              <a:t>15/10/2026</a:t>
            </a:r>
          </a:p>
        </p:txBody>
      </p:sp>
      <p:sp>
        <p:nvSpPr>
          <p:cNvPr id="23" name="Échéance statut 3"/>
          <p:cNvSpPr/>
          <p:nvPr/>
        </p:nvSpPr>
        <p:spPr>
          <a:xfrm>
            <a:off x="9906000" y="4324350"/>
            <a:ext cx="150495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150" b="1" dirty="0">
                <a:solidFill>
                  <a:srgbClr val="FBBF24"/>
                </a:solidFill>
                <a:latin typeface="Segoe UI"/>
                <a:cs typeface="Segoe UI"/>
              </a:rPr>
              <a:t>⚠️ dans 16 j</a:t>
            </a:r>
          </a:p>
        </p:txBody>
      </p:sp>
      <p:sp>
        <p:nvSpPr>
          <p:cNvPr id="24" name="Échéance 4"/>
          <p:cNvSpPr/>
          <p:nvPr/>
        </p:nvSpPr>
        <p:spPr>
          <a:xfrm>
            <a:off x="609600" y="4933950"/>
            <a:ext cx="10972800" cy="49530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/>
        </p:txBody>
      </p:sp>
      <p:sp>
        <p:nvSpPr>
          <p:cNvPr id="25" name="Échéance nom 4"/>
          <p:cNvSpPr/>
          <p:nvPr/>
        </p:nvSpPr>
        <p:spPr>
          <a:xfrm>
            <a:off x="819150" y="4933950"/>
            <a:ext cx="66675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NAS-02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  ·  RACK-B — Agence Rabat</a:t>
            </a:r>
          </a:p>
        </p:txBody>
      </p:sp>
      <p:sp>
        <p:nvSpPr>
          <p:cNvPr id="26" name="Échéance date 4"/>
          <p:cNvSpPr/>
          <p:nvPr/>
        </p:nvSpPr>
        <p:spPr>
          <a:xfrm>
            <a:off x="7524750" y="4933950"/>
            <a:ext cx="22860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250" dirty="0">
                <a:solidFill>
                  <a:srgbClr val="A3B2CC"/>
                </a:solidFill>
                <a:latin typeface="Segoe UI"/>
                <a:cs typeface="Segoe UI"/>
              </a:rPr>
              <a:t>30/11/2026</a:t>
            </a:r>
          </a:p>
        </p:txBody>
      </p:sp>
      <p:sp>
        <p:nvSpPr>
          <p:cNvPr id="27" name="Échéance statut 4"/>
          <p:cNvSpPr/>
          <p:nvPr/>
        </p:nvSpPr>
        <p:spPr>
          <a:xfrm>
            <a:off x="9906000" y="4933950"/>
            <a:ext cx="150495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150" b="1" dirty="0">
                <a:solidFill>
                  <a:srgbClr val="FBBF24"/>
                </a:solidFill>
                <a:latin typeface="Segoe UI"/>
                <a:cs typeface="Segoe UI"/>
              </a:rPr>
              <a:t>⚠️ dans 62 j</a:t>
            </a:r>
          </a:p>
        </p:txBody>
      </p:sp>
      <p:sp>
        <p:nvSpPr>
          <p:cNvPr id="28" name="Échéance 5"/>
          <p:cNvSpPr/>
          <p:nvPr/>
        </p:nvSpPr>
        <p:spPr>
          <a:xfrm>
            <a:off x="609600" y="5543550"/>
            <a:ext cx="10972800" cy="495300"/>
          </a:xfrm>
          <a:prstGeom prst="roundRect">
            <a:avLst>
              <a:gd name="adj" fmla="val 14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</p:spPr>
        <p:txBody>
          <a:bodyPr wrap="square" lIns="0" tIns="0" rIns="0" bIns="0" anchor="t"/>
          <a:lstStyle/>
          <a:p/>
        </p:txBody>
      </p:sp>
      <p:sp>
        <p:nvSpPr>
          <p:cNvPr id="29" name="Échéance nom 5"/>
          <p:cNvSpPr/>
          <p:nvPr/>
        </p:nvSpPr>
        <p:spPr>
          <a:xfrm>
            <a:off x="819150" y="5543550"/>
            <a:ext cx="66675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</a:pPr>
            <a:r>
              <a:rPr lang="fr-FR" sz="1300" b="1" dirty="0">
                <a:solidFill>
                  <a:srgbClr val="F5F8FE"/>
                </a:solidFill>
                <a:latin typeface="Segoe UI"/>
                <a:cs typeface="Segoe UI"/>
              </a:rPr>
              <a:t>NAS-01</a:t>
            </a: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  ·  RACK-A — Siège Casablanca</a:t>
            </a:r>
          </a:p>
        </p:txBody>
      </p:sp>
      <p:sp>
        <p:nvSpPr>
          <p:cNvPr id="30" name="Échéance date 5"/>
          <p:cNvSpPr/>
          <p:nvPr/>
        </p:nvSpPr>
        <p:spPr>
          <a:xfrm>
            <a:off x="7524750" y="5543550"/>
            <a:ext cx="228600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250" dirty="0">
                <a:solidFill>
                  <a:srgbClr val="A3B2CC"/>
                </a:solidFill>
                <a:latin typeface="Segoe UI"/>
                <a:cs typeface="Segoe UI"/>
              </a:rPr>
              <a:t>12/03/2027</a:t>
            </a:r>
          </a:p>
        </p:txBody>
      </p:sp>
      <p:sp>
        <p:nvSpPr>
          <p:cNvPr id="31" name="Échéance statut 5"/>
          <p:cNvSpPr/>
          <p:nvPr/>
        </p:nvSpPr>
        <p:spPr>
          <a:xfrm>
            <a:off x="9906000" y="5543550"/>
            <a:ext cx="1504950" cy="495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fr-FR" sz="1150" b="1" dirty="0">
                <a:solidFill>
                  <a:srgbClr val="34D399"/>
                </a:solidFill>
                <a:latin typeface="Segoe UI"/>
                <a:cs typeface="Segoe UI"/>
              </a:rPr>
              <a:t>✅ en garantie</a:t>
            </a:r>
          </a:p>
        </p:txBody>
      </p:sp>
      <p:sp>
        <p:nvSpPr>
          <p:cNvPr id="32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33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11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 dur="7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60"/>
                            </p:stCondLst>
                            <p:childTnLst>
                              <p:par>
                                <p:cTn id="23" presetID="22" presetClass="entr" presetSubtype="2" fill="hold" grpId="0" nodeType="withEffect" dur="7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20"/>
                            </p:stCondLst>
                            <p:childTnLst>
                              <p:par>
                                <p:cTn id="27" presetID="22" presetClass="entr" presetSubtype="2" fill="hold" grpId="0" nodeType="withEffect" dur="7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80"/>
                            </p:stCondLst>
                            <p:childTnLst>
                              <p:par>
                                <p:cTn id="31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80"/>
                            </p:stCondLst>
                            <p:childTnLst>
                              <p:par>
                                <p:cTn id="35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950"/>
                            </p:stCondLst>
                            <p:childTnLst>
                              <p:par>
                                <p:cTn id="39" presetID="2" presetClass="entr" presetSubtype="4" fill="hold" grpId="0" nodeType="withEffect" dur="5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950"/>
                            </p:stCondLst>
                            <p:childTnLst>
                              <p:par>
                                <p:cTn id="44" presetID="2" presetClass="entr" presetSubtype="4" fill="hold" grpId="0" nodeType="withEffect" dur="5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50"/>
                            </p:stCondLst>
                            <p:childTnLst>
                              <p:par>
                                <p:cTn id="49" presetID="2" presetClass="entr" presetSubtype="4" fill="hold" grpId="0" nodeType="withEffect" dur="5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950"/>
                            </p:stCondLst>
                            <p:childTnLst>
                              <p:par>
                                <p:cTn id="54" presetID="2" presetClass="entr" presetSubtype="4" fill="hold" grpId="0" nodeType="withEffect" dur="5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80"/>
                            </p:stCondLst>
                            <p:childTnLst>
                              <p:par>
                                <p:cTn id="59" presetID="2" presetClass="entr" presetSubtype="4" fill="hold" grpId="0" nodeType="withEffect" dur="5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80"/>
                            </p:stCondLst>
                            <p:childTnLst>
                              <p:par>
                                <p:cTn id="64" presetID="2" presetClass="entr" presetSubtype="4" fill="hold" grpId="0" nodeType="withEffect" dur="5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80"/>
                            </p:stCondLst>
                            <p:childTnLst>
                              <p:par>
                                <p:cTn id="69" presetID="2" presetClass="entr" presetSubtype="4" fill="hold" grpId="0" nodeType="withEffect" dur="5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80"/>
                            </p:stCondLst>
                            <p:childTnLst>
                              <p:par>
                                <p:cTn id="74" presetID="2" presetClass="entr" presetSubtype="4" fill="hold" grpId="0" nodeType="withEffect" dur="5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210"/>
                            </p:stCondLst>
                            <p:childTnLst>
                              <p:par>
                                <p:cTn id="79" presetID="2" presetClass="entr" presetSubtype="4" fill="hold" grpId="0" nodeType="withEffect" dur="5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210"/>
                            </p:stCondLst>
                            <p:childTnLst>
                              <p:par>
                                <p:cTn id="84" presetID="2" presetClass="entr" presetSubtype="4" fill="hold" grpId="0" nodeType="withEffect" dur="5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210"/>
                            </p:stCondLst>
                            <p:childTnLst>
                              <p:par>
                                <p:cTn id="89" presetID="2" presetClass="entr" presetSubtype="4" fill="hold" grpId="0" nodeType="withEffect" dur="5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210"/>
                            </p:stCondLst>
                            <p:childTnLst>
                              <p:par>
                                <p:cTn id="94" presetID="2" presetClass="entr" presetSubtype="4" fill="hold" grpId="0" nodeType="withEffect" dur="5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340"/>
                            </p:stCondLst>
                            <p:childTnLst>
                              <p:par>
                                <p:cTn id="99" presetID="2" presetClass="entr" presetSubtype="4" fill="hold" grpId="0" nodeType="withEffect" dur="5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340"/>
                            </p:stCondLst>
                            <p:childTnLst>
                              <p:par>
                                <p:cTn id="104" presetID="2" presetClass="entr" presetSubtype="4" fill="hold" grpId="0" nodeType="withEffect" dur="5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340"/>
                            </p:stCondLst>
                            <p:childTnLst>
                              <p:par>
                                <p:cTn id="109" presetID="2" presetClass="entr" presetSubtype="4" fill="hold" grpId="0" nodeType="withEffect" dur="5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40"/>
                            </p:stCondLst>
                            <p:childTnLst>
                              <p:par>
                                <p:cTn id="114" presetID="2" presetClass="entr" presetSubtype="4" fill="hold" grpId="0" nodeType="withEffect" dur="5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470"/>
                            </p:stCondLst>
                            <p:childTnLst>
                              <p:par>
                                <p:cTn id="119" presetID="2" presetClass="entr" presetSubtype="4" fill="hold" grpId="0" nodeType="withEffect" dur="5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470"/>
                            </p:stCondLst>
                            <p:childTnLst>
                              <p:par>
                                <p:cTn id="124" presetID="2" presetClass="entr" presetSubtype="4" fill="hold" grpId="0" nodeType="withEffect" dur="5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470"/>
                            </p:stCondLst>
                            <p:childTnLst>
                              <p:par>
                                <p:cTn id="129" presetID="2" presetClass="entr" presetSubtype="4" fill="hold" grpId="0" nodeType="withEffect" dur="5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470"/>
                            </p:stCondLst>
                            <p:childTnLst>
                              <p:par>
                                <p:cTn id="134" presetID="2" presetClass="entr" presetSubtype="4" fill="hold" grpId="0" nodeType="withEffect" dur="5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SÉCURITÉ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Sécurité &amp; interconnexion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/>
        </p:txBody>
      </p:sp>
      <p:sp>
        <p:nvSpPr>
          <p:cNvPr id="7" name="Sécu 1"/>
          <p:cNvSpPr/>
          <p:nvPr/>
        </p:nvSpPr>
        <p:spPr>
          <a:xfrm>
            <a:off x="609600" y="15430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🌐</a:t>
            </a:r>
          </a:p>
          <a:p>
            <a:pPr>
              <a:lnSpc>
                <a:spcPct val="98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3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opérateurs FAI</a:t>
            </a:r>
          </a:p>
          <a:p>
            <a:pPr>
              <a:spcBef>
                <a:spcPts val="800"/>
              </a:spcBef>
              <a:buNone/>
            </a:pPr>
            <a:r>
              <a:rPr lang="fr-FR" sz="1150" b="1" dirty="0">
                <a:solidFill>
                  <a:srgbClr val="22D3EE"/>
                </a:solidFill>
                <a:latin typeface="Segoe UI"/>
                <a:cs typeface="Segoe UI"/>
              </a:rPr>
              <a:t>Accès Internet &amp; liens</a:t>
            </a:r>
          </a:p>
        </p:txBody>
      </p:sp>
      <p:sp>
        <p:nvSpPr>
          <p:cNvPr id="8" name="Sécu 2"/>
          <p:cNvSpPr/>
          <p:nvPr/>
        </p:nvSpPr>
        <p:spPr>
          <a:xfrm>
            <a:off x="4343400" y="15430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🔗</a:t>
            </a:r>
          </a:p>
          <a:p>
            <a:pPr>
              <a:lnSpc>
                <a:spcPct val="98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2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extrémités S2S</a:t>
            </a:r>
          </a:p>
          <a:p>
            <a:pPr>
              <a:spcBef>
                <a:spcPts val="800"/>
              </a:spcBef>
              <a:buNone/>
            </a:pPr>
            <a:r>
              <a:rPr lang="fr-FR" sz="1150" b="1" dirty="0">
                <a:solidFill>
                  <a:srgbClr val="3B82F6"/>
                </a:solidFill>
                <a:latin typeface="Segoe UI"/>
                <a:cs typeface="Segoe UI"/>
              </a:rPr>
              <a:t>Interconnexion site à site</a:t>
            </a:r>
          </a:p>
        </p:txBody>
      </p:sp>
      <p:sp>
        <p:nvSpPr>
          <p:cNvPr id="9" name="Sécu 3"/>
          <p:cNvSpPr/>
          <p:nvPr/>
        </p:nvSpPr>
        <p:spPr>
          <a:xfrm>
            <a:off x="8077200" y="15430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🛡️</a:t>
            </a:r>
          </a:p>
          <a:p>
            <a:pPr>
              <a:lnSpc>
                <a:spcPct val="98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4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règles &amp; NAT</a:t>
            </a:r>
          </a:p>
          <a:p>
            <a:pPr>
              <a:spcBef>
                <a:spcPts val="800"/>
              </a:spcBef>
              <a:buNone/>
            </a:pPr>
            <a:r>
              <a:rPr lang="fr-FR" sz="1150" b="1" dirty="0">
                <a:solidFill>
                  <a:srgbClr val="F87171"/>
                </a:solidFill>
                <a:latin typeface="Segoe UI"/>
                <a:cs typeface="Segoe UI"/>
              </a:rPr>
              <a:t>Politique de filtrage</a:t>
            </a:r>
          </a:p>
        </p:txBody>
      </p:sp>
      <p:sp>
        <p:nvSpPr>
          <p:cNvPr id="10" name="Sécu 4"/>
          <p:cNvSpPr/>
          <p:nvPr/>
        </p:nvSpPr>
        <p:spPr>
          <a:xfrm>
            <a:off x="609600" y="38671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🧱</a:t>
            </a:r>
          </a:p>
          <a:p>
            <a:pPr>
              <a:lnSpc>
                <a:spcPct val="98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4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profils actifs</a:t>
            </a:r>
          </a:p>
          <a:p>
            <a:pPr>
              <a:spcBef>
                <a:spcPts val="800"/>
              </a:spcBef>
              <a:buNone/>
            </a:pPr>
            <a:r>
              <a:rPr lang="fr-FR" sz="1150" b="1" dirty="0">
                <a:solidFill>
                  <a:srgbClr val="818CF8"/>
                </a:solidFill>
                <a:latin typeface="Segoe UI"/>
                <a:cs typeface="Segoe UI"/>
              </a:rPr>
              <a:t>Inspection &amp; contrôle</a:t>
            </a:r>
          </a:p>
        </p:txBody>
      </p:sp>
      <p:sp>
        <p:nvSpPr>
          <p:cNvPr id="11" name="Sécu 5"/>
          <p:cNvSpPr/>
          <p:nvPr/>
        </p:nvSpPr>
        <p:spPr>
          <a:xfrm>
            <a:off x="4343400" y="38671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🔒</a:t>
            </a:r>
          </a:p>
          <a:p>
            <a:pPr>
              <a:lnSpc>
                <a:spcPct val="98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2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tunnels VPN</a:t>
            </a:r>
          </a:p>
          <a:p>
            <a:pPr>
              <a:spcBef>
                <a:spcPts val="800"/>
              </a:spcBef>
              <a:buNone/>
            </a:pPr>
            <a:r>
              <a:rPr lang="fr-FR" sz="1150" b="1" dirty="0">
                <a:solidFill>
                  <a:srgbClr val="FBBF24"/>
                </a:solidFill>
                <a:latin typeface="Segoe UI"/>
                <a:cs typeface="Segoe UI"/>
              </a:rPr>
              <a:t>Accès distant chiffré</a:t>
            </a:r>
          </a:p>
        </p:txBody>
      </p:sp>
      <p:sp>
        <p:nvSpPr>
          <p:cNvPr id="12" name="Sécu 6"/>
          <p:cNvSpPr/>
          <p:nvPr/>
        </p:nvSpPr>
        <p:spPr>
          <a:xfrm>
            <a:off x="8077200" y="3867150"/>
            <a:ext cx="3505200" cy="2095500"/>
          </a:xfrm>
          <a:prstGeom prst="roundRect">
            <a:avLst>
              <a:gd name="adj" fmla="val 9000"/>
            </a:avLst>
          </a:prstGeom>
          <a:solidFill>
            <a:srgbClr val="13203C"/>
          </a:solidFill>
          <a:ln w="9525" cap="rnd">
            <a:solidFill>
              <a:srgbClr val="273851"/>
            </a:solidFill>
          </a:ln>
          <a:effectLst>
            <a:outerShdw blurRad="110000" dist="32000" dir="5400000" algn="ctr" rotWithShape="0">
              <a:srgbClr val="000000">
                <a:alpha val="42000"/>
              </a:srgbClr>
            </a:outerShdw>
          </a:effectLst>
        </p:spPr>
        <p:txBody>
          <a:bodyPr wrap="square" lIns="247650" tIns="228600" rIns="190500" bIns="171450" anchor="t"/>
          <a:lstStyle/>
          <a:p>
            <a:pPr>
              <a:spcAft>
                <a:spcPts val="800"/>
              </a:spcAft>
              <a:buNone/>
            </a:pPr>
            <a:r>
              <a:rPr lang="fr-FR" sz="2200" dirty="0">
                <a:solidFill>
                  <a:srgbClr val="F5F8FE"/>
                </a:solidFill>
                <a:latin typeface="Segoe UI"/>
                <a:cs typeface="Segoe UI"/>
              </a:rPr>
              <a:t>👤</a:t>
            </a:r>
          </a:p>
          <a:p>
            <a:pPr>
              <a:lnSpc>
                <a:spcPct val="98000"/>
              </a:lnSpc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2</a:t>
            </a:r>
            <a:r>
              <a:rPr lang="fr-FR" sz="1200" dirty="0">
                <a:solidFill>
                  <a:srgbClr val="A3B2CC"/>
                </a:solidFill>
                <a:latin typeface="Segoe UI"/>
                <a:cs typeface="Segoe UI"/>
              </a:rPr>
              <a:t>  comptes admin</a:t>
            </a:r>
          </a:p>
          <a:p>
            <a:pPr>
              <a:spcBef>
                <a:spcPts val="800"/>
              </a:spcBef>
              <a:buNone/>
            </a:pPr>
            <a:r>
              <a:rPr lang="fr-FR" sz="1150" b="1" dirty="0">
                <a:solidFill>
                  <a:srgbClr val="34D399"/>
                </a:solidFill>
                <a:latin typeface="Segoe UI"/>
                <a:cs typeface="Segoe UI"/>
              </a:rPr>
              <a:t>Comptes d’administration</a:t>
            </a:r>
          </a:p>
        </p:txBody>
      </p:sp>
      <p:sp>
        <p:nvSpPr>
          <p:cNvPr id="13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14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12 / 14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 dur="6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"/>
                            </p:stCondLst>
                            <p:childTnLst>
                              <p:par>
                                <p:cTn id="23" presetID="6" presetClass="entr" presetSubtype="16" fill="hold" grpId="0" nodeType="withEffect" dur="6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"/>
                            </p:stCondLst>
                            <p:childTnLst>
                              <p:par>
                                <p:cTn id="27" presetID="6" presetClass="entr" presetSubtype="16" fill="hold" grpId="0" nodeType="withEffect" dur="6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"/>
                            </p:stCondLst>
                            <p:childTnLst>
                              <p:par>
                                <p:cTn id="31" presetID="6" presetClass="entr" presetSubtype="16" fill="hold" grpId="0" nodeType="withEffect" dur="6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"/>
                            </p:stCondLst>
                            <p:childTnLst>
                              <p:par>
                                <p:cTn id="35" presetID="6" presetClass="entr" presetSubtype="16" fill="hold" grpId="0" nodeType="withEffect" dur="6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50"/>
                            </p:stCondLst>
                            <p:childTnLst>
                              <p:par>
                                <p:cTn id="39" presetID="6" presetClass="entr" presetSubtype="16" fill="hold" grpId="0" nodeType="withEffect" dur="6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1"/>
          <p:cNvSpPr/>
          <p:nvPr/>
        </p:nvSpPr>
        <p:spPr>
          <a:xfrm>
            <a:off x="9163050" y="-1047750"/>
            <a:ext cx="4095750" cy="409575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3" name="Décor 2"/>
          <p:cNvSpPr/>
          <p:nvPr/>
        </p:nvSpPr>
        <p:spPr>
          <a:xfrm>
            <a:off x="-1143000" y="4953000"/>
            <a:ext cx="3238500" cy="3238500"/>
          </a:xfrm>
          <a:prstGeom prst="ellipse">
            <a:avLst/>
          </a:prstGeom>
          <a:solidFill>
            <a:srgbClr val="818CF8">
              <a:alpha val="5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4" name="Kicker"/>
          <p:cNvSpPr/>
          <p:nvPr/>
        </p:nvSpPr>
        <p:spPr>
          <a:xfrm>
            <a:off x="609600" y="4191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050" b="1" spc="220" dirty="0">
                <a:solidFill>
                  <a:srgbClr val="22D3EE"/>
                </a:solidFill>
                <a:latin typeface="Segoe UI"/>
                <a:cs typeface="Segoe UI"/>
              </a:rPr>
              <a:t>TRAJECTOIRE</a:t>
            </a:r>
          </a:p>
        </p:txBody>
      </p:sp>
      <p:sp>
        <p:nvSpPr>
          <p:cNvPr id="5" name="Titre"/>
          <p:cNvSpPr/>
          <p:nvPr/>
        </p:nvSpPr>
        <p:spPr>
          <a:xfrm>
            <a:off x="609600" y="628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2700" b="1" dirty="0">
                <a:solidFill>
                  <a:srgbClr val="F5F8FE"/>
                </a:solidFill>
                <a:latin typeface="Segoe UI"/>
                <a:cs typeface="Segoe UI"/>
              </a:rPr>
              <a:t>Prochaines étapes</a:t>
            </a:r>
          </a:p>
        </p:txBody>
      </p:sp>
      <p:sp>
        <p:nvSpPr>
          <p:cNvPr id="6" name="Barre"/>
          <p:cNvSpPr/>
          <p:nvPr/>
        </p:nvSpPr>
        <p:spPr>
          <a:xfrm>
            <a:off x="609600" y="1123950"/>
            <a:ext cx="704850" cy="47625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/>
        </p:txBody>
      </p:sp>
      <p:sp>
        <p:nvSpPr>
          <p:cNvPr id="7" name="Intro trajectoire"/>
          <p:cNvSpPr/>
          <p:nvPr/>
        </p:nvSpPr>
        <p:spPr>
          <a:xfrm>
            <a:off x="609600" y="1390650"/>
            <a:ext cx="109728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1250" dirty="0">
                <a:solidFill>
                  <a:srgbClr val="A3B2CC"/>
                </a:solidFill>
                <a:latin typeface="Segoe UI"/>
                <a:cs typeface="Segoe UI"/>
              </a:rPr>
              <a:t>Feuille de route de bascule en 4 jalons — de la recette des livrables à l’exploitation quotidienne.</a:t>
            </a:r>
          </a:p>
        </p:txBody>
      </p:sp>
      <p:sp>
        <p:nvSpPr>
          <p:cNvPr id="8" name="Ligne"/>
          <p:cNvSpPr/>
          <p:nvPr/>
        </p:nvSpPr>
        <p:spPr>
          <a:xfrm>
            <a:off x="1238250" y="2914650"/>
            <a:ext cx="9715500" cy="28575"/>
          </a:xfrm>
          <a:prstGeom prst="rect">
            <a:avLst/>
          </a:prstGeom>
          <a:solidFill>
            <a:srgbClr val="273851"/>
          </a:solidFill>
        </p:spPr>
        <p:txBody>
          <a:bodyPr wrap="square" lIns="0" tIns="0" rIns="0" bIns="0" anchor="t"/>
          <a:lstStyle/>
          <a:p/>
        </p:txBody>
      </p:sp>
      <p:sp>
        <p:nvSpPr>
          <p:cNvPr id="9" name="Étape 1"/>
          <p:cNvSpPr/>
          <p:nvPr/>
        </p:nvSpPr>
        <p:spPr>
          <a:xfrm>
            <a:off x="1647825" y="2695575"/>
            <a:ext cx="495300" cy="495300"/>
          </a:xfrm>
          <a:prstGeom prst="ellipse">
            <a:avLst/>
          </a:prstGeom>
          <a:solidFill>
            <a:srgbClr val="0B1120"/>
          </a:solidFill>
          <a:ln w="19050" cap="rnd">
            <a:solidFill>
              <a:srgbClr val="22D3EE"/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700" b="1" dirty="0">
                <a:solidFill>
                  <a:srgbClr val="22D3EE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0" name="Étape titre 1"/>
          <p:cNvSpPr/>
          <p:nvPr/>
        </p:nvSpPr>
        <p:spPr>
          <a:xfrm>
            <a:off x="609600" y="3409950"/>
            <a:ext cx="2571750" cy="514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Recette &amp; validation</a:t>
            </a:r>
          </a:p>
        </p:txBody>
      </p:sp>
      <p:sp>
        <p:nvSpPr>
          <p:cNvPr id="11" name="Étape desc 1"/>
          <p:cNvSpPr/>
          <p:nvPr/>
        </p:nvSpPr>
        <p:spPr>
          <a:xfrm>
            <a:off x="609600" y="3981450"/>
            <a:ext cx="2571750" cy="1428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4000"/>
              </a:lnSpc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Vérification des élévations, du câblage et des plans de ports avec les équipes.</a:t>
            </a:r>
          </a:p>
        </p:txBody>
      </p:sp>
      <p:sp>
        <p:nvSpPr>
          <p:cNvPr id="12" name="Étape 2"/>
          <p:cNvSpPr/>
          <p:nvPr/>
        </p:nvSpPr>
        <p:spPr>
          <a:xfrm>
            <a:off x="4448175" y="2695575"/>
            <a:ext cx="495300" cy="495300"/>
          </a:xfrm>
          <a:prstGeom prst="ellipse">
            <a:avLst/>
          </a:prstGeom>
          <a:solidFill>
            <a:srgbClr val="0B1120"/>
          </a:solidFill>
          <a:ln w="19050" cap="rnd">
            <a:solidFill>
              <a:srgbClr val="3B82F6"/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700" b="1" dirty="0">
                <a:solidFill>
                  <a:srgbClr val="3B82F6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3" name="Étape titre 2"/>
          <p:cNvSpPr/>
          <p:nvPr/>
        </p:nvSpPr>
        <p:spPr>
          <a:xfrm>
            <a:off x="3409950" y="3409950"/>
            <a:ext cx="2571750" cy="514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Préparation</a:t>
            </a:r>
          </a:p>
        </p:txBody>
      </p:sp>
      <p:sp>
        <p:nvSpPr>
          <p:cNvPr id="14" name="Étape desc 2"/>
          <p:cNvSpPr/>
          <p:nvPr/>
        </p:nvSpPr>
        <p:spPr>
          <a:xfrm>
            <a:off x="3409950" y="3981450"/>
            <a:ext cx="2571750" cy="1428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4000"/>
              </a:lnSpc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Formalisation IP / VLAN, nomenclature, comptes d’administration et règles firewall.</a:t>
            </a:r>
          </a:p>
        </p:txBody>
      </p:sp>
      <p:sp>
        <p:nvSpPr>
          <p:cNvPr id="15" name="Étape 3"/>
          <p:cNvSpPr/>
          <p:nvPr/>
        </p:nvSpPr>
        <p:spPr>
          <a:xfrm>
            <a:off x="7248525" y="2695575"/>
            <a:ext cx="495300" cy="495300"/>
          </a:xfrm>
          <a:prstGeom prst="ellipse">
            <a:avLst/>
          </a:prstGeom>
          <a:solidFill>
            <a:srgbClr val="0B1120"/>
          </a:solidFill>
          <a:ln w="19050" cap="rnd">
            <a:solidFill>
              <a:srgbClr val="818CF8"/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700" b="1" dirty="0">
                <a:solidFill>
                  <a:srgbClr val="818CF8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6" name="Étape titre 3"/>
          <p:cNvSpPr/>
          <p:nvPr/>
        </p:nvSpPr>
        <p:spPr>
          <a:xfrm>
            <a:off x="6210300" y="3409950"/>
            <a:ext cx="2571750" cy="514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Migration &amp; bascule</a:t>
            </a:r>
          </a:p>
        </p:txBody>
      </p:sp>
      <p:sp>
        <p:nvSpPr>
          <p:cNvPr id="17" name="Étape desc 3"/>
          <p:cNvSpPr/>
          <p:nvPr/>
        </p:nvSpPr>
        <p:spPr>
          <a:xfrm>
            <a:off x="6210300" y="3981450"/>
            <a:ext cx="2571750" cy="1428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4000"/>
              </a:lnSpc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Glissement progressif des services, bascule S2S et tests de bout en bout.</a:t>
            </a:r>
          </a:p>
        </p:txBody>
      </p:sp>
      <p:sp>
        <p:nvSpPr>
          <p:cNvPr id="18" name="Étape 4"/>
          <p:cNvSpPr/>
          <p:nvPr/>
        </p:nvSpPr>
        <p:spPr>
          <a:xfrm>
            <a:off x="10048875" y="2695575"/>
            <a:ext cx="495300" cy="495300"/>
          </a:xfrm>
          <a:prstGeom prst="ellipse">
            <a:avLst/>
          </a:prstGeom>
          <a:solidFill>
            <a:srgbClr val="0B1120"/>
          </a:solidFill>
          <a:ln w="19050" cap="rnd">
            <a:solidFill>
              <a:srgbClr val="34D399"/>
            </a:solidFill>
          </a:ln>
        </p:spPr>
        <p:txBody>
          <a:bodyPr wrap="square" lIns="38100" tIns="38100" rIns="38100" bIns="38100" anchor="ctr"/>
          <a:lstStyle/>
          <a:p>
            <a:pPr algn="ctr">
              <a:buNone/>
            </a:pPr>
            <a:r>
              <a:rPr lang="fr-FR" sz="1700" b="1" dirty="0">
                <a:solidFill>
                  <a:srgbClr val="34D399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9" name="Étape titre 4"/>
          <p:cNvSpPr/>
          <p:nvPr/>
        </p:nvSpPr>
        <p:spPr>
          <a:xfrm>
            <a:off x="9010650" y="3409950"/>
            <a:ext cx="2571750" cy="514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</a:pPr>
            <a:r>
              <a:rPr lang="fr-FR" sz="1500" b="1" dirty="0">
                <a:solidFill>
                  <a:srgbClr val="F5F8FE"/>
                </a:solidFill>
                <a:latin typeface="Segoe UI"/>
                <a:cs typeface="Segoe UI"/>
              </a:rPr>
              <a:t>Exploitation</a:t>
            </a:r>
          </a:p>
        </p:txBody>
      </p:sp>
      <p:sp>
        <p:nvSpPr>
          <p:cNvPr id="20" name="Étape desc 4"/>
          <p:cNvSpPr/>
          <p:nvPr/>
        </p:nvSpPr>
        <p:spPr>
          <a:xfrm>
            <a:off x="9010650" y="3981450"/>
            <a:ext cx="2571750" cy="1428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4000"/>
              </a:lnSpc>
              <a:buNone/>
            </a:pPr>
            <a:r>
              <a:rPr lang="fr-FR" sz="1150" dirty="0">
                <a:solidFill>
                  <a:srgbClr val="A3B2CC"/>
                </a:solidFill>
                <a:latin typeface="Segoe UI"/>
                <a:cs typeface="Segoe UI"/>
              </a:rPr>
              <a:t>Supervision, suivi des garanties, revue de capacité et amélioration continue.</a:t>
            </a:r>
          </a:p>
        </p:txBody>
      </p:sp>
      <p:sp>
        <p:nvSpPr>
          <p:cNvPr id="21" name="Note roadmap"/>
          <p:cNvSpPr/>
          <p:nvPr/>
        </p:nvSpPr>
        <p:spPr>
          <a:xfrm>
            <a:off x="609600" y="5715000"/>
            <a:ext cx="109728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FR" sz="1150" dirty="0">
                <a:solidFill>
                  <a:srgbClr val="6E80A0"/>
                </a:solidFill>
                <a:latin typeface="Segoe UI"/>
                <a:cs typeface="Segoe UI"/>
              </a:rPr>
              <a:t>Chaque jalon est jalonné des révisions du dossier</a:t>
            </a:r>
            <a:r>
              <a:rPr lang="fr-FR" sz="1150" dirty="0">
                <a:solidFill>
                  <a:srgbClr val="6E80A0"/>
                </a:solidFill>
                <a:latin typeface="Segoe UI"/>
                <a:cs typeface="Segoe UI"/>
              </a:rPr>
              <a:t> (version actuelle 1.2)</a:t>
            </a:r>
            <a:r>
              <a:rPr lang="fr-FR" sz="1150" dirty="0">
                <a:solidFill>
                  <a:srgbClr val="6E80A0"/>
                </a:solidFill>
                <a:latin typeface="Segoe UI"/>
                <a:cs typeface="Segoe UI"/>
              </a:rPr>
              <a:t> — gouvernance : approbateurs &amp; réviseurs en page de garde.</a:t>
            </a:r>
          </a:p>
        </p:txBody>
      </p:sp>
      <p:sp>
        <p:nvSpPr>
          <p:cNvPr id="22" name="Pied gauche"/>
          <p:cNvSpPr/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Démo Industries SA — Siège Casablanca  ·  Dossier HLD  ·  v1.2</a:t>
            </a:r>
          </a:p>
        </p:txBody>
      </p:sp>
      <p:sp>
        <p:nvSpPr>
          <p:cNvPr id="23" name="Pied droite"/>
          <p:cNvSpPr/>
          <p:nvPr/>
        </p:nvSpPr>
        <p:spPr>
          <a:xfrm>
            <a:off x="10763250" y="6553200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fr-FR" sz="850" dirty="0">
                <a:solidFill>
                  <a:srgbClr val="6E80A0"/>
                </a:solidFill>
                <a:latin typeface="Segoe UI"/>
                <a:cs typeface="Segoe UI"/>
              </a:rPr>
              <a:t>13 / 14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dur="4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id="14" presetID="22" presetClass="entr" presetSubtype="2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grpId="0" nodeType="withEffect" dur="9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"/>
                            </p:stCondLst>
                            <p:childTnLst>
                              <p:par>
                                <p:cTn id="27" presetID="10" presetClass="entr" presetSubtype="0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80"/>
                            </p:stCondLst>
                            <p:childTnLst>
                              <p:par>
                                <p:cTn id="31" presetID="2" presetClass="entr" presetSubtype="4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40"/>
                            </p:stCondLst>
                            <p:childTnLst>
                              <p:par>
                                <p:cTn id="40" presetID="10" presetClass="entr" presetSubtype="0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20"/>
                            </p:stCondLst>
                            <p:childTnLst>
                              <p:par>
                                <p:cTn id="44" presetID="2" presetClass="entr" presetSubtype="4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40"/>
                            </p:stCondLst>
                            <p:childTnLst>
                              <p:par>
                                <p:cTn id="49" presetID="10" presetClass="entr" presetSubtype="0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80"/>
                            </p:stCondLst>
                            <p:childTnLst>
                              <p:par>
                                <p:cTn id="53" presetID="10" presetClass="entr" presetSubtype="0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60"/>
                            </p:stCondLst>
                            <p:childTnLst>
                              <p:par>
                                <p:cTn id="57" presetID="2" presetClass="entr" presetSubtype="4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980"/>
                            </p:stCondLst>
                            <p:childTnLst>
                              <p:par>
                                <p:cTn id="62" presetID="10" presetClass="entr" presetSubtype="0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20"/>
                            </p:stCondLst>
                            <p:childTnLst>
                              <p:par>
                                <p:cTn id="66" presetID="10" presetClass="entr" presetSubtype="0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100"/>
                            </p:stCondLst>
                            <p:childTnLst>
                              <p:par>
                                <p:cTn id="70" presetID="2" presetClass="entr" presetSubtype="4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220"/>
                            </p:stCondLst>
                            <p:childTnLst>
                              <p:par>
                                <p:cTn id="75" presetID="10" presetClass="entr" presetSubtype="0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350"/>
                            </p:stCondLst>
                            <p:childTnLst>
                              <p:par>
                                <p:cTn id="79" presetID="10" presetClass="entr" presetSubtype="0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90F1E"/>
            </a:gs>
            <a:gs pos="100000">
              <a:srgbClr val="14224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A"/>
          <p:cNvSpPr/>
          <p:nvPr/>
        </p:nvSpPr>
        <p:spPr>
          <a:xfrm>
            <a:off x="-1238250" y="-1238250"/>
            <a:ext cx="4381500" cy="4381500"/>
          </a:xfrm>
          <a:prstGeom prst="ellipse">
            <a:avLst/>
          </a:prstGeom>
          <a:solidFill>
            <a:srgbClr val="3B82F6">
              <a:alpha val="7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3" name="Décor B"/>
          <p:cNvSpPr/>
          <p:nvPr/>
        </p:nvSpPr>
        <p:spPr>
          <a:xfrm>
            <a:off x="9334500" y="4000500"/>
            <a:ext cx="4191000" cy="4191000"/>
          </a:xfrm>
          <a:prstGeom prst="ellipse">
            <a:avLst/>
          </a:prstGeom>
          <a:solidFill>
            <a:srgbClr val="22D3EE">
              <a:alpha val="6000"/>
            </a:srgbClr>
          </a:solidFill>
        </p:spPr>
        <p:txBody>
          <a:bodyPr wrap="square" lIns="0" tIns="0" rIns="0" bIns="0" anchor="t"/>
          <a:lstStyle/>
          <a:p/>
        </p:txBody>
      </p:sp>
      <p:sp>
        <p:nvSpPr>
          <p:cNvPr id="4" name="Merci"/>
          <p:cNvSpPr/>
          <p:nvPr/>
        </p:nvSpPr>
        <p:spPr>
          <a:xfrm>
            <a:off x="1333500" y="2247900"/>
            <a:ext cx="9525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FR" sz="4000" b="1" dirty="0">
                <a:solidFill>
                  <a:srgbClr val="F5F8FE"/>
                </a:solidFill>
                <a:latin typeface="Segoe UI"/>
                <a:cs typeface="Segoe UI"/>
              </a:rPr>
              <a:t>Merci.</a:t>
            </a:r>
          </a:p>
        </p:txBody>
      </p:sp>
      <p:sp>
        <p:nvSpPr>
          <p:cNvPr id="5" name="Sous-titre"/>
          <p:cNvSpPr/>
          <p:nvPr/>
        </p:nvSpPr>
        <p:spPr>
          <a:xfrm>
            <a:off x="1809750" y="3295650"/>
            <a:ext cx="8572500" cy="609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FR" sz="1700" dirty="0">
                <a:solidFill>
                  <a:srgbClr val="A3B2CC"/>
                </a:solidFill>
                <a:latin typeface="Segoe UI"/>
                <a:cs typeface="Segoe UI"/>
              </a:rPr>
              <a:t>Dossier HLD — Démo Industries SA — Siège Casablanca</a:t>
            </a:r>
          </a:p>
          <a:p>
            <a:pPr algn="ctr">
              <a:spcBef>
                <a:spcPts val="600"/>
              </a:spcBef>
              <a:buNone/>
            </a:pPr>
            <a:r>
              <a:rPr lang="fr-FR" sz="1300" dirty="0">
                <a:solidFill>
                  <a:srgbClr val="6E80A0"/>
                </a:solidFill>
                <a:latin typeface="Segoe UI"/>
                <a:cs typeface="Segoe UI"/>
              </a:rPr>
              <a:t>version 1.2  ·  08/09/2026</a:t>
            </a:r>
          </a:p>
        </p:txBody>
      </p:sp>
      <p:sp>
        <p:nvSpPr>
          <p:cNvPr id="6" name="Filet"/>
          <p:cNvSpPr/>
          <p:nvPr/>
        </p:nvSpPr>
        <p:spPr>
          <a:xfrm>
            <a:off x="5391150" y="4191000"/>
            <a:ext cx="1409700" cy="38100"/>
          </a:xfrm>
          <a:prstGeom prst="rect">
            <a:avLst/>
          </a:prstGeom>
          <a:solidFill>
            <a:srgbClr val="3B82F6"/>
          </a:solidFill>
        </p:spPr>
        <p:txBody>
          <a:bodyPr wrap="square" lIns="0" tIns="0" rIns="0" bIns="0" anchor="t"/>
          <a:lstStyle/>
          <a:p/>
        </p:txBody>
      </p:sp>
      <p:sp>
        <p:nvSpPr>
          <p:cNvPr id="7" name="Contact"/>
          <p:cNvSpPr/>
          <p:nvPr/>
        </p:nvSpPr>
        <p:spPr>
          <a:xfrm>
            <a:off x="1809750" y="4476750"/>
            <a:ext cx="85725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FR" sz="1400" b="1" dirty="0">
                <a:solidFill>
                  <a:srgbClr val="22D3EE"/>
                </a:solidFill>
                <a:latin typeface="Segoe UI"/>
                <a:cs typeface="Segoe UI"/>
              </a:rPr>
              <a:t>Amine MJID — Ingénieur systèmes &amp; réseaux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 dur="8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withEffect" dur="6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22" presetClass="entr" presetSubtype="2" fill="hold" grpId="0" nodeType="withEffect" dur="5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50"/>
                            </p:stCondLst>
                            <p:childTnLst>
                              <p:par>
                                <p:cTn id="17" presetID="10" presetClass="entr" presetSubtype="0" fill="hold" grpId="0" nodeType="withEffect" dur="6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theme/theme1.xml><?xml version="1.0" encoding="utf-8"?>
<a:theme xmlns:a="http://schemas.openxmlformats.org/drawingml/2006/main" name="LLDraw HLD">
  <a:themeElements>
    <a:clrScheme name="LLDraw HLD">
      <a:dk1>
        <a:srgbClr val="0B1120"/>
      </a:dk1>
      <a:lt1>
        <a:srgbClr val="FFFFFF"/>
      </a:lt1>
      <a:dk2>
        <a:srgbClr val="1B2B4A"/>
      </a:dk2>
      <a:lt2>
        <a:srgbClr val="E7ECF5"/>
      </a:lt2>
      <a:accent1>
        <a:srgbClr val="3B82F6"/>
      </a:accent1>
      <a:accent2>
        <a:srgbClr val="22D3EE"/>
      </a:accent2>
      <a:accent3>
        <a:srgbClr val="34D399"/>
      </a:accent3>
      <a:accent4>
        <a:srgbClr val="FBBF24"/>
      </a:accent4>
      <a:accent5>
        <a:srgbClr val="818CF8"/>
      </a:accent5>
      <a:accent6>
        <a:srgbClr val="F87171"/>
      </a:accent6>
      <a:hlink>
        <a:srgbClr val="22D3EE"/>
      </a:hlink>
      <a:folHlink>
        <a:srgbClr val="818CF8"/>
      </a:folHlink>
    </a:clrScheme>
    <a:fontScheme name="LLDraw HLD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LLDraw HLD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LLDraw</Application>
  <PresentationFormat>On-screen Show (16:9)</PresentationFormat>
  <Slides>14</Slides>
  <Notes>0</Notes>
  <HiddenSlides>0</HiddenSlides>
  <MMClips>0</MMClips>
  <Company/>
  <AppVersion>16.0000</AppVersion>
</Properties>
</file>

<file path=docProps/core.xml><?xml version="1.0" encoding="utf-8"?>
<cp:core-properties xmlns:cp="http://schemas.openxmlformats.org/package/2006/metadata/core-properties" xmlns:dc="http://purl.org/dc/elements/1.1/" xmlns:dcterms="http://purl.org/dc/terms/" xmlns:xsi="http://www.w3.org/2001/XMLSchema-instance">
  <dc:title>Dossier HLD — Datacenter Démo</dc:title>
  <dc:subject>High Level Design</dc:subject>
  <dc:creator>Amine MJID — Ingénieur systèmes &amp; réseaux</dc:creator>
  <cp:lastModifiedBy>Amine MJID — Ingénieur systèmes &amp; réseaux</cp:lastModifiedBy>
  <dc:description>Présentation HLD générée par LLDraw.</dc:description>
  <dcterms:created xsi:type="dcterms:W3CDTF">2026-09-29T15:44:32Z</dcterms:created>
  <dcterms:modified xsi:type="dcterms:W3CDTF">2026-09-29T15:44:32Z</dcterms:modified>
  <cp:revision>1</cp:revision>
</cp:core-properties>
</file>